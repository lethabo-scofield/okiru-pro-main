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charts/chart1.xml" ContentType="application/vnd.openxmlformats-officedocument.drawingml.chart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charts/chart2.xml" ContentType="application/vnd.openxmlformats-officedocument.drawingml.chart+xml"/>
  <Override PartName="/ppt/charts/chart3.xml" ContentType="application/vnd.openxmlformats-officedocument.drawingml.chart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slideMasters/slideMaster11.xml" ContentType="application/vnd.openxmlformats-officedocument.presentationml.slideMaster+xml"/>
  <Override PartName="/ppt/slides/slide11.xml" ContentType="application/vnd.openxmlformats-officedocument.presentationml.slide+xml"/>
  <Override PartName="/ppt/slideMasters/slideMaster12.xml" ContentType="application/vnd.openxmlformats-officedocument.presentationml.slideMaster+xml"/>
  <Override PartName="/ppt/slides/slide12.xml" ContentType="application/vnd.openxmlformats-officedocument.presentationml.slide+xml"/>
  <Override PartName="/ppt/slideMasters/slideMaster13.xml" ContentType="application/vnd.openxmlformats-officedocument.presentationml.slideMaster+xml"/>
  <Override PartName="/ppt/slides/slide13.xml" ContentType="application/vnd.openxmlformats-officedocument.presentationml.slide+xml"/>
  <Override PartName="/ppt/slideMasters/slideMaster14.xml" ContentType="application/vnd.openxmlformats-officedocument.presentationml.slideMaster+xml"/>
  <Override PartName="/ppt/slides/slide14.xml" ContentType="application/vnd.openxmlformats-officedocument.presentationml.slide+xml"/>
  <Override PartName="/ppt/slideMasters/slideMaster15.xml" ContentType="application/vnd.openxmlformats-officedocument.presentationml.slideMaster+xml"/>
  <Override PartName="/ppt/slides/slide15.xml" ContentType="application/vnd.openxmlformats-officedocument.presentationml.slide+xml"/>
  <Override PartName="/ppt/slideMasters/slideMaster16.xml" ContentType="application/vnd.openxmlformats-officedocument.presentationml.slideMaster+xml"/>
  <Override PartName="/ppt/slides/slide16.xml" ContentType="application/vnd.openxmlformats-officedocument.presentationml.slide+xml"/>
  <Override PartName="/ppt/slideMasters/slideMaster17.xml" ContentType="application/vnd.openxmlformats-officedocument.presentationml.slideMaster+xml"/>
  <Override PartName="/ppt/slides/slide17.xml" ContentType="application/vnd.openxmlformats-officedocument.presentationml.slide+xml"/>
  <Override PartName="/ppt/slideMasters/slideMaster18.xml" ContentType="application/vnd.openxmlformats-officedocument.presentationml.slideMaster+xml"/>
  <Override PartName="/ppt/slides/slide18.xml" ContentType="application/vnd.openxmlformats-officedocument.presentationml.slide+xml"/>
  <Override PartName="/ppt/slideMasters/slideMaster19.xml" ContentType="application/vnd.openxmlformats-officedocument.presentationml.slideMaster+xml"/>
  <Override PartName="/ppt/slides/slide19.xml" ContentType="application/vnd.openxmlformats-officedocument.presentationml.slide+xml"/>
  <Override PartName="/ppt/slideMasters/slideMaster20.xml" ContentType="application/vnd.openxmlformats-officedocument.presentationml.slideMaster+xml"/>
  <Override PartName="/ppt/slides/slide20.xml" ContentType="application/vnd.openxmlformats-officedocument.presentationml.slide+xml"/>
  <Override PartName="/ppt/slideMasters/slideMaster21.xml" ContentType="application/vnd.openxmlformats-officedocument.presentationml.slideMaster+xml"/>
  <Override PartName="/ppt/slides/slide21.xml" ContentType="application/vnd.openxmlformats-officedocument.presentationml.slide+xml"/>
  <Override PartName="/ppt/slideMasters/slideMaster22.xml" ContentType="application/vnd.openxmlformats-officedocument.presentationml.slideMaster+xml"/>
  <Override PartName="/ppt/slides/slide22.xml" ContentType="application/vnd.openxmlformats-officedocument.presentationml.slide+xml"/>
  <Override PartName="/ppt/slideMasters/slideMaster23.xml" ContentType="application/vnd.openxmlformats-officedocument.presentationml.slideMaster+xml"/>
  <Override PartName="/ppt/slides/slide23.xml" ContentType="application/vnd.openxmlformats-officedocument.presentationml.slide+xml"/>
  <Override PartName="/ppt/slideMasters/slideMaster24.xml" ContentType="application/vnd.openxmlformats-officedocument.presentationml.slideMaster+xml"/>
  <Override PartName="/ppt/slides/slide24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ppt/notesSlides/notesSlide19.xml" ContentType="application/vnd.openxmlformats-officedocument.presentationml.notesSlide+xml"/>
  <Override PartName="/ppt/notesSlides/notesSlide20.xml" ContentType="application/vnd.openxmlformats-officedocument.presentationml.notesSlide+xml"/>
  <Override PartName="/ppt/notesSlides/notesSlide21.xml" ContentType="application/vnd.openxmlformats-officedocument.presentationml.notesSlide+xml"/>
  <Override PartName="/ppt/notesSlides/notesSlide22.xml" ContentType="application/vnd.openxmlformats-officedocument.presentationml.notesSlide+xml"/>
  <Override PartName="/ppt/notesSlides/notesSlide23.xml" ContentType="application/vnd.openxmlformats-officedocument.presentationml.notesSlide+xml"/>
  <Override PartName="/ppt/notesSlides/notesSlide24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  <p:sldId id="270" r:id="rId16"/>
    <p:sldId id="271" r:id="rId17"/>
    <p:sldId id="272" r:id="rId18"/>
    <p:sldId id="273" r:id="rId19"/>
    <p:sldId id="274" r:id="rId20"/>
    <p:sldId id="275" r:id="rId21"/>
    <p:sldId id="276" r:id="rId22"/>
    <p:sldId id="277" r:id="rId23"/>
    <p:sldId id="278" r:id="rId24"/>
    <p:sldId id="279" r:id="rId25"/>
  </p:sldIdLst>
  <p:notesMasterIdLst>
    <p:notesMasterId r:id="rId26"/>
  </p:notesMaster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slide" Target="slides/slide12.xml"/><Relationship Id="rId14" Type="http://schemas.openxmlformats.org/officeDocument/2006/relationships/slide" Target="slides/slide13.xml"/><Relationship Id="rId15" Type="http://schemas.openxmlformats.org/officeDocument/2006/relationships/slide" Target="slides/slide14.xml"/><Relationship Id="rId16" Type="http://schemas.openxmlformats.org/officeDocument/2006/relationships/slide" Target="slides/slide15.xml"/><Relationship Id="rId17" Type="http://schemas.openxmlformats.org/officeDocument/2006/relationships/slide" Target="slides/slide16.xml"/><Relationship Id="rId18" Type="http://schemas.openxmlformats.org/officeDocument/2006/relationships/slide" Target="slides/slide17.xml"/><Relationship Id="rId19" Type="http://schemas.openxmlformats.org/officeDocument/2006/relationships/slide" Target="slides/slide18.xml"/><Relationship Id="rId20" Type="http://schemas.openxmlformats.org/officeDocument/2006/relationships/slide" Target="slides/slide19.xml"/><Relationship Id="rId21" Type="http://schemas.openxmlformats.org/officeDocument/2006/relationships/slide" Target="slides/slide20.xml"/><Relationship Id="rId22" Type="http://schemas.openxmlformats.org/officeDocument/2006/relationships/slide" Target="slides/slide21.xml"/><Relationship Id="rId23" Type="http://schemas.openxmlformats.org/officeDocument/2006/relationships/slide" Target="slides/slide22.xml"/><Relationship Id="rId24" Type="http://schemas.openxmlformats.org/officeDocument/2006/relationships/slide" Target="slides/slide23.xml"/><Relationship Id="rId25" Type="http://schemas.openxmlformats.org/officeDocument/2006/relationships/slide" Target="slides/slide24.xml"/><Relationship Id="rId26" Type="http://schemas.openxmlformats.org/officeDocument/2006/relationships/notesMaster" Target="notesMasters/notesMaster1.xml"/><Relationship Id="rId27" Type="http://schemas.openxmlformats.org/officeDocument/2006/relationships/presProps" Target="presProps.xml"/><Relationship Id="rId28" Type="http://schemas.openxmlformats.org/officeDocument/2006/relationships/viewProps" Target="viewProps.xml"/><Relationship Id="rId29" Type="http://schemas.openxmlformats.org/officeDocument/2006/relationships/theme" Target="theme/theme1.xml"/><Relationship Id="rId30" Type="http://schemas.openxmlformats.org/officeDocument/2006/relationships/tableStyles" Target="tableStyles.xml"/></Relationships>
</file>

<file path=ppt/charts/_rels/chart1.xml.rels><?xml version="1.0" encoding="UTF-8" standalone="yes"?><Relationships xmlns="http://schemas.openxmlformats.org/package/2006/relationships"><Relationship Id="rId1" Type="http://schemas.openxmlformats.org/officeDocument/2006/relationships/package" Target="../embeddings/Microsoft_Excel_Worksheet1.xlsx"/></Relationships>
</file>

<file path=ppt/charts/_rels/chart2.xml.rels><?xml version="1.0" encoding="UTF-8" standalone="yes"?><Relationships xmlns="http://schemas.openxmlformats.org/package/2006/relationships"><Relationship Id="rId1" Type="http://schemas.openxmlformats.org/officeDocument/2006/relationships/package" Target="../embeddings/Microsoft_Excel_Worksheet2.xlsx"/></Relationships>
</file>

<file path=ppt/charts/_rels/chart3.xml.rels><?xml version="1.0" encoding="UTF-8" standalone="yes"?><Relationships xmlns="http://schemas.openxmlformats.org/package/2006/relationships"><Relationship Id="rId1" Type="http://schemas.openxmlformats.org/officeDocument/2006/relationships/package" Target="../embeddings/Microsoft_Excel_Worksheet3.xlsx"/></Relationships>
</file>

<file path=ppt/charts/chart1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roundedCorners val="1"/>
  <c:chart>
    <c:autoTitleDeleted val="1"/>
    <c:plotArea>
      <c:layout/>
      <c:barChart>
        <c:barDir val="col"/>
        <c:grouping val="clustere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Actual / projected</c:v>
                </c:pt>
              </c:strCache>
            </c:strRef>
          </c:tx>
          <c:spPr>
            <a:solidFill>
              <a:srgbClr val="00647A"/>
            </a:solidFill>
            <a:effectLst/>
          </c:spPr>
          <c:invertIfNegative val="0"/>
          <c:dLbls>
            <c:numFmt formatCode="#,##0" sourceLinked="0"/>
            <c:txPr>
              <a:bodyPr/>
              <a:lstStyle/>
              <a:p>
                <a:pPr>
                  <a:defRPr b="0" i="0" strike="noStrike" sz="1000" u="none">
                    <a:solidFill>
                      <a:srgbClr val="22282A"/>
                    </a:solidFill>
                    <a:latin typeface="Calibri"/>
                  </a:defRPr>
                </a:pPr>
              </a:p>
            </c:txPr>
            <c:showLegendKey val="0"/>
            <c:showVal val="0"/>
            <c:showCatName val="0"/>
            <c:showSerName val="0"/>
            <c:showPercent val="0"/>
            <c:showBubbleSize val="0"/>
            <c:showLeaderLines val="0"/>
          </c:dLbls>
          <c:cat>
            <c:multiLvlStrRef>
              <c:f>Sheet1!$A$2:$A$8</c:f>
              <c:multiLvlStrCache>
                <c:ptCount val="7"/>
                <c:lvl>
                  <c:pt idx="0">
                    <c:v>FY24</c:v>
                  </c:pt>
                  <c:pt idx="1">
                    <c:v>FY25</c:v>
                  </c:pt>
                  <c:pt idx="2">
                    <c:v>FY26</c:v>
                  </c:pt>
                  <c:pt idx="3">
                    <c:v>FY27</c:v>
                  </c:pt>
                  <c:pt idx="4">
                    <c:v>FY28</c:v>
                  </c:pt>
                  <c:pt idx="5">
                    <c:v>FY29</c:v>
                  </c:pt>
                  <c:pt idx="6">
                    <c:v>FY30</c:v>
                  </c:pt>
                </c:lvl>
              </c:multiLvlStrCache>
            </c:multiLvlStrRef>
          </c:cat>
          <c:val>
            <c:numRef>
              <c:f>Sheet1!$B$2:$B$8</c:f>
              <c:numCache>
                <c:formatCode>General</c:formatCode>
                <c:ptCount val="7"/>
                <c:pt idx="0">
                  <c:v>14850</c:v>
                </c:pt>
                <c:pt idx="1">
                  <c:v>13620</c:v>
                </c:pt>
                <c:pt idx="2">
                  <c:v>12480</c:v>
                </c:pt>
                <c:pt idx="3">
                  <c:v>11400</c:v>
                </c:pt>
                <c:pt idx="4">
                  <c:v>10250</c:v>
                </c:pt>
                <c:pt idx="5">
                  <c:v>9600</c:v>
                </c:pt>
                <c:pt idx="6">
                  <c:v>9100</c:v>
                </c:pt>
              </c:numCache>
            </c:numRef>
          </c:val>
        </c:ser>
        <c:ser>
          <c:idx val="1"/>
          <c:order val="1"/>
          <c:tx>
            <c:strRef>
              <c:f>Sheet1!$C$1</c:f>
              <c:strCache>
                <c:ptCount val="1"/>
                <c:pt idx="0">
                  <c:v>Required pathway</c:v>
                </c:pt>
              </c:strCache>
            </c:strRef>
          </c:tx>
          <c:spPr>
            <a:solidFill>
              <a:srgbClr val="8FC9D6"/>
            </a:solidFill>
            <a:effectLst/>
          </c:spPr>
          <c:invertIfNegative val="0"/>
          <c:dLbls>
            <c:numFmt formatCode="#,##0" sourceLinked="0"/>
            <c:txPr>
              <a:bodyPr/>
              <a:lstStyle/>
              <a:p>
                <a:pPr>
                  <a:defRPr b="0" i="0" strike="noStrike" sz="1000" u="none">
                    <a:solidFill>
                      <a:srgbClr val="22282A"/>
                    </a:solidFill>
                    <a:latin typeface="Calibri"/>
                  </a:defRPr>
                </a:pPr>
              </a:p>
            </c:txPr>
            <c:showLegendKey val="0"/>
            <c:showVal val="0"/>
            <c:showCatName val="0"/>
            <c:showSerName val="0"/>
            <c:showPercent val="0"/>
            <c:showBubbleSize val="0"/>
            <c:showLeaderLines val="0"/>
          </c:dLbls>
          <c:cat>
            <c:multiLvlStrRef>
              <c:f>Sheet1!$A$2:$A$8</c:f>
              <c:multiLvlStrCache>
                <c:ptCount val="7"/>
                <c:lvl>
                  <c:pt idx="0">
                    <c:v>FY24</c:v>
                  </c:pt>
                  <c:pt idx="1">
                    <c:v>FY25</c:v>
                  </c:pt>
                  <c:pt idx="2">
                    <c:v>FY26</c:v>
                  </c:pt>
                  <c:pt idx="3">
                    <c:v>FY27</c:v>
                  </c:pt>
                  <c:pt idx="4">
                    <c:v>FY28</c:v>
                  </c:pt>
                  <c:pt idx="5">
                    <c:v>FY29</c:v>
                  </c:pt>
                  <c:pt idx="6">
                    <c:v>FY30</c:v>
                  </c:pt>
                </c:lvl>
              </c:multiLvlStrCache>
            </c:multiLvlStrRef>
          </c:cat>
          <c:val>
            <c:numRef>
              <c:f>Sheet1!$C$2:$C$8</c:f>
              <c:numCache>
                <c:formatCode>General</c:formatCode>
                <c:ptCount val="7"/>
                <c:pt idx="0">
                  <c:v>14850</c:v>
                </c:pt>
                <c:pt idx="1">
                  <c:v>13860</c:v>
                </c:pt>
                <c:pt idx="2">
                  <c:v>12870</c:v>
                </c:pt>
                <c:pt idx="3">
                  <c:v>11880</c:v>
                </c:pt>
                <c:pt idx="4">
                  <c:v>10890</c:v>
                </c:pt>
                <c:pt idx="5">
                  <c:v>9900</c:v>
                </c:pt>
                <c:pt idx="6">
                  <c:v>8910</c:v>
                </c:pt>
              </c:numCache>
            </c:numRef>
          </c:val>
        </c:ser>
        <c:dLbls>
          <c:numFmt formatCode="#,##0" sourceLinked="0"/>
          <c:txPr>
            <a:bodyPr/>
            <a:lstStyle/>
            <a:p>
              <a:pPr>
                <a:defRPr b="0" i="0" strike="noStrike" sz="1000" u="none">
                  <a:solidFill>
                    <a:srgbClr val="22282A"/>
                  </a:solidFill>
                  <a:latin typeface="Calibri"/>
                </a:defRPr>
              </a:pPr>
            </a:p>
          </c:txPr>
          <c:showLegendKey val="0"/>
          <c:showVal val="0"/>
          <c:showCatName val="0"/>
          <c:showSerName val="0"/>
          <c:showPercent val="0"/>
          <c:showBubbleSize val="0"/>
          <c:showLeaderLines val="0"/>
        </c:dLbls>
        <c:gapWidth val="45"/>
        <c:overlap val="0"/>
        <c:axId val="2094734554"/>
        <c:axId val="2094734552"/>
        <c:axId val="2094734556"/>
      </c:barChart>
      <c:catAx>
        <c:axId val="2094734554"/>
        <c:scaling>
          <c:orientation val="minMax"/>
        </c:scaling>
        <c:delete val="0"/>
        <c:axPos val="b"/>
        <c:numFmt formatCode="General" sourceLinked="1"/>
        <c:majorTickMark val="out"/>
        <c:minorTickMark val="none"/>
        <c:tickLblPos val="low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100" b="0" i="0" u="none" strike="noStrike">
                <a:solidFill>
                  <a:srgbClr val="5F6B6E"/>
                </a:solidFill>
                <a:latin typeface="Calibri"/>
              </a:defRPr>
            </a:pPr>
            <a:endParaRPr lang="en-US"/>
          </a:p>
        </c:txPr>
        <c:crossAx val="2094734552"/>
        <c:crosses val="autoZero"/>
        <c:auto val="1"/>
        <c:lblAlgn val="ctr"/>
        <c:noMultiLvlLbl val="1"/>
      </c:catAx>
      <c:valAx>
        <c:axId val="2094734552"/>
        <c:scaling>
          <c:orientation val="minMax"/>
        </c:scaling>
        <c:delete val="0"/>
        <c:axPos val="l"/>
        <c:majorGridlines>
          <c:spPr>
            <a:ln w="9525" cap="flat">
              <a:solidFill>
                <a:srgbClr val="DCE4E6"/>
              </a:solidFill>
              <a:prstDash val="solid"/>
              <a:round/>
            </a:ln>
          </c:spPr>
        </c:majorGridlines>
        <c:title>
          <c:tx>
            <c:rich>
              <a:bodyPr/>
              <a:lstStyle/>
              <a:p>
                <a:pPr>
                  <a:defRPr sz="1100" b="0" i="0" u="none" strike="noStrike">
                    <a:solidFill>
                      <a:srgbClr val="5F6B6E"/>
                    </a:solidFill>
                    <a:latin typeface="Calibri"/>
                  </a:defRPr>
                </a:pPr>
                <a:r>
                  <a:rPr sz="1100" b="0" i="0" u="none" strike="noStrike">
                    <a:solidFill>
                      <a:srgbClr val="5F6B6E"/>
                    </a:solidFill>
                    <a:latin typeface="Calibri"/>
                  </a:rPr>
                  <a:t>tCO₂e</a:t>
                </a:r>
              </a:p>
            </c:rich>
          </c:tx>
          <c:layout/>
          <c:overlay val="0"/>
        </c:title>
        <c:numFmt formatCode="General" sourceLinked="0"/>
        <c:majorTickMark val="out"/>
        <c:minorTickMark val="none"/>
        <c:tickLblPos val="nextTo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100" b="0" i="0" u="none" strike="noStrike">
                <a:solidFill>
                  <a:srgbClr val="5F6B6E"/>
                </a:solidFill>
                <a:latin typeface="Calibri"/>
              </a:defRPr>
            </a:pPr>
            <a:endParaRPr lang="en-US"/>
          </a:p>
        </c:txPr>
        <c:crossAx val="2094734554"/>
        <c:crosses val="autoZero"/>
        <c:crossBetween val="between"/>
      </c:valAx>
      <c:spPr>
        <a:noFill/>
        <a:ln>
          <a:noFill/>
        </a:ln>
        <a:effectLst/>
      </c:spPr>
    </c:plotArea>
    <c:legend>
      <c:legendPos val="b"/>
      <c:overlay val="0"/>
      <c:txPr>
        <a:bodyPr/>
        <a:lstStyle/>
        <a:p>
          <a:pPr>
            <a:defRPr sz="1100">
              <a:solidFill>
                <a:srgbClr val="5F6B6E"/>
              </a:solidFill>
              <a:latin typeface="Calibri"/>
              <a:cs typeface="Calibri"/>
            </a:defRPr>
          </a:pPr>
          <a:endParaRPr lang="en-US"/>
        </a:p>
      </c:txPr>
    </c:legend>
    <c:plotVisOnly val="1"/>
    <c:dispBlanksAs val="span"/>
  </c:chart>
  <c:spPr>
    <a:noFill/>
    <a:ln>
      <a:noFill/>
    </a:ln>
    <a:effectLst/>
  </c:spPr>
  <c:externalData r:id="rId1">
    <c:autoUpdate val="0"/>
  </c:externalData>
</c:chartSpace>
</file>

<file path=ppt/charts/chart2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roundedCorners val="1"/>
  <c:chart>
    <c:autoTitleDeleted val="1"/>
    <c:plotArea>
      <c:layout/>
      <c:barChart>
        <c:barDir val="col"/>
        <c:grouping val="clustere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Metrics</c:v>
                </c:pt>
              </c:strCache>
            </c:strRef>
          </c:tx>
          <c:spPr>
            <a:solidFill>
              <a:srgbClr val="00647A"/>
            </a:solidFill>
            <a:effectLst/>
          </c:spPr>
          <c:invertIfNegative val="0"/>
          <c:dLbls>
            <c:numFmt formatCode="#,##0" sourceLinked="0"/>
            <c:txPr>
              <a:bodyPr/>
              <a:lstStyle/>
              <a:p>
                <a:pPr>
                  <a:defRPr b="0" i="0" strike="noStrike" sz="1000" u="none">
                    <a:solidFill>
                      <a:srgbClr val="22282A"/>
                    </a:solidFill>
                    <a:latin typeface="Calibri"/>
                  </a:defRPr>
                </a:pPr>
              </a:p>
            </c:txPr>
            <c:showLegendKey val="0"/>
            <c:showVal val="1"/>
            <c:showCatName val="0"/>
            <c:showSerName val="0"/>
            <c:showPercent val="0"/>
            <c:showBubbleSize val="0"/>
            <c:showLeaderLines val="0"/>
          </c:dLbls>
          <c:cat>
            <c:multiLvlStrRef>
              <c:f>Sheet1!$A$2:$A$6</c:f>
              <c:multiLvlStrCache>
                <c:ptCount val="5"/>
                <c:lvl>
                  <c:pt idx="0">
                    <c:v>5 metered</c:v>
                  </c:pt>
                  <c:pt idx="1">
                    <c:v>4 system</c:v>
                  </c:pt>
                  <c:pt idx="2">
                    <c:v>3 mixed</c:v>
                  </c:pt>
                  <c:pt idx="3">
                    <c:v>2 estimated</c:v>
                  </c:pt>
                  <c:pt idx="4">
                    <c:v>1 proxy</c:v>
                  </c:pt>
                </c:lvl>
              </c:multiLvlStrCache>
            </c:multiLvlStrRef>
          </c:cat>
          <c:val>
            <c:numRef>
              <c:f>Sheet1!$B$2:$B$6</c:f>
              <c:numCache>
                <c:formatCode>General</c:formatCode>
                <c:ptCount val="5"/>
                <c:pt idx="0">
                  <c:v>14</c:v>
                </c:pt>
                <c:pt idx="1">
                  <c:v>22</c:v>
                </c:pt>
                <c:pt idx="2">
                  <c:v>19</c:v>
                </c:pt>
                <c:pt idx="3">
                  <c:v>9</c:v>
                </c:pt>
                <c:pt idx="4">
                  <c:v>4</c:v>
                </c:pt>
              </c:numCache>
            </c:numRef>
          </c:val>
        </c:ser>
        <c:dLbls>
          <c:numFmt formatCode="#,##0" sourceLinked="0"/>
          <c:txPr>
            <a:bodyPr/>
            <a:lstStyle/>
            <a:p>
              <a:pPr>
                <a:defRPr b="0" i="0" strike="noStrike" sz="1000" u="none">
                  <a:solidFill>
                    <a:srgbClr val="22282A"/>
                  </a:solidFill>
                  <a:latin typeface="Calibri"/>
                </a:defRPr>
              </a:pPr>
            </a:p>
          </c:txPr>
          <c:showLegendKey val="0"/>
          <c:showVal val="1"/>
          <c:showCatName val="0"/>
          <c:showSerName val="0"/>
          <c:showPercent val="0"/>
          <c:showBubbleSize val="0"/>
          <c:showLeaderLines val="0"/>
        </c:dLbls>
        <c:gapWidth val="55"/>
        <c:overlap val="0"/>
        <c:axId val="2094734554"/>
        <c:axId val="2094734552"/>
        <c:axId val="2094734556"/>
      </c:barChart>
      <c:catAx>
        <c:axId val="2094734554"/>
        <c:scaling>
          <c:orientation val="minMax"/>
        </c:scaling>
        <c:delete val="0"/>
        <c:axPos val="b"/>
        <c:numFmt formatCode="General" sourceLinked="1"/>
        <c:majorTickMark val="out"/>
        <c:minorTickMark val="none"/>
        <c:tickLblPos val="low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100" b="0" i="0" u="none" strike="noStrike">
                <a:solidFill>
                  <a:srgbClr val="5F6B6E"/>
                </a:solidFill>
                <a:latin typeface="Calibri"/>
              </a:defRPr>
            </a:pPr>
            <a:endParaRPr lang="en-US"/>
          </a:p>
        </c:txPr>
        <c:crossAx val="2094734552"/>
        <c:crosses val="autoZero"/>
        <c:auto val="1"/>
        <c:lblAlgn val="ctr"/>
        <c:noMultiLvlLbl val="1"/>
      </c:catAx>
      <c:valAx>
        <c:axId val="2094734552"/>
        <c:scaling>
          <c:orientation val="minMax"/>
        </c:scaling>
        <c:delete val="0"/>
        <c:axPos val="l"/>
        <c:majorGridlines>
          <c:spPr>
            <a:ln w="9525" cap="flat">
              <a:solidFill>
                <a:srgbClr val="DCE4E6"/>
              </a:solidFill>
              <a:prstDash val="solid"/>
              <a:round/>
            </a:ln>
          </c:spPr>
        </c:majorGridlines>
        <c:numFmt formatCode="General" sourceLinked="0"/>
        <c:majorTickMark val="out"/>
        <c:minorTickMark val="none"/>
        <c:tickLblPos val="nextTo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100" b="0" i="0" u="none" strike="noStrike">
                <a:solidFill>
                  <a:srgbClr val="5F6B6E"/>
                </a:solidFill>
                <a:latin typeface="Calibri"/>
              </a:defRPr>
            </a:pPr>
            <a:endParaRPr lang="en-US"/>
          </a:p>
        </c:txPr>
        <c:crossAx val="2094734554"/>
        <c:crosses val="autoZero"/>
        <c:crossBetween val="between"/>
      </c:valAx>
      <c:spPr>
        <a:noFill/>
        <a:ln>
          <a:noFill/>
        </a:ln>
        <a:effectLst/>
      </c:spPr>
    </c:plotArea>
    <c:plotVisOnly val="1"/>
    <c:dispBlanksAs val="span"/>
  </c:chart>
  <c:spPr>
    <a:noFill/>
    <a:ln>
      <a:noFill/>
    </a:ln>
    <a:effectLst/>
  </c:spPr>
  <c:externalData r:id="rId1">
    <c:autoUpdate val="0"/>
  </c:externalData>
</c:chartSpace>
</file>

<file path=ppt/charts/chart3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roundedCorners val="1"/>
  <c:chart>
    <c:autoTitleDeleted val="1"/>
    <c:plotArea>
      <c:layout/>
      <c:barChart>
        <c:barDir val="bar"/>
        <c:grouping val="percentStacke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Ready</c:v>
                </c:pt>
              </c:strCache>
            </c:strRef>
          </c:tx>
          <c:spPr>
            <a:solidFill>
              <a:srgbClr val="0091A8"/>
            </a:solidFill>
            <a:effectLst/>
          </c:spPr>
          <c:invertIfNegative val="0"/>
          <c:dLbls>
            <c:numFmt formatCode="#,##0" sourceLinked="0"/>
            <c:txPr>
              <a:bodyPr/>
              <a:lstStyle/>
              <a:p>
                <a:pPr>
                  <a:defRPr b="0" i="0" strike="noStrike" sz="1000" u="none">
                    <a:solidFill>
                      <a:srgbClr val="22282A"/>
                    </a:solidFill>
                    <a:latin typeface="Calibri"/>
                  </a:defRPr>
                </a:pPr>
              </a:p>
            </c:txPr>
            <c:showLegendKey val="0"/>
            <c:showVal val="0"/>
            <c:showCatName val="0"/>
            <c:showSerName val="0"/>
            <c:showPercent val="0"/>
            <c:showBubbleSize val="0"/>
            <c:showLeaderLines val="0"/>
          </c:dLbls>
          <c:cat>
            <c:multiLvlStrRef>
              <c:f>Sheet1!$A$2:$A$7</c:f>
              <c:multiLvlStrCache>
                <c:ptCount val="6"/>
                <c:lvl>
                  <c:pt idx="0">
                    <c:v>Supply chain</c:v>
                  </c:pt>
                  <c:pt idx="1">
                    <c:v>Water</c:v>
                  </c:pt>
                  <c:pt idx="2">
                    <c:v>Emissions</c:v>
                  </c:pt>
                  <c:pt idx="3">
                    <c:v>Energy</c:v>
                  </c:pt>
                  <c:pt idx="4">
                    <c:v>Social</c:v>
                  </c:pt>
                  <c:pt idx="5">
                    <c:v>Governance</c:v>
                  </c:pt>
                </c:lvl>
              </c:multiLvlStrCache>
            </c:multiLvlStrRef>
          </c:cat>
          <c:val>
            <c:numRef>
              <c:f>Sheet1!$B$2:$B$7</c:f>
              <c:numCache>
                <c:formatCode>General</c:formatCode>
                <c:ptCount val="6"/>
                <c:pt idx="0">
                  <c:v>15</c:v>
                </c:pt>
                <c:pt idx="1">
                  <c:v>40</c:v>
                </c:pt>
                <c:pt idx="2">
                  <c:v>58</c:v>
                </c:pt>
                <c:pt idx="3">
                  <c:v>70</c:v>
                </c:pt>
                <c:pt idx="4">
                  <c:v>74</c:v>
                </c:pt>
                <c:pt idx="5">
                  <c:v>88</c:v>
                </c:pt>
              </c:numCache>
            </c:numRef>
          </c:val>
        </c:ser>
        <c:ser>
          <c:idx val="1"/>
          <c:order val="1"/>
          <c:tx>
            <c:strRef>
              <c:f>Sheet1!$C$1</c:f>
              <c:strCache>
                <c:ptCount val="1"/>
                <c:pt idx="0">
                  <c:v>Remediation required</c:v>
                </c:pt>
              </c:strCache>
            </c:strRef>
          </c:tx>
          <c:spPr>
            <a:solidFill>
              <a:srgbClr val="CFD8DA"/>
            </a:solidFill>
            <a:effectLst/>
          </c:spPr>
          <c:invertIfNegative val="0"/>
          <c:dLbls>
            <c:numFmt formatCode="#,##0" sourceLinked="0"/>
            <c:txPr>
              <a:bodyPr/>
              <a:lstStyle/>
              <a:p>
                <a:pPr>
                  <a:defRPr b="0" i="0" strike="noStrike" sz="1000" u="none">
                    <a:solidFill>
                      <a:srgbClr val="22282A"/>
                    </a:solidFill>
                    <a:latin typeface="Calibri"/>
                  </a:defRPr>
                </a:pPr>
              </a:p>
            </c:txPr>
            <c:showLegendKey val="0"/>
            <c:showVal val="0"/>
            <c:showCatName val="0"/>
            <c:showSerName val="0"/>
            <c:showPercent val="0"/>
            <c:showBubbleSize val="0"/>
            <c:showLeaderLines val="0"/>
          </c:dLbls>
          <c:cat>
            <c:multiLvlStrRef>
              <c:f>Sheet1!$A$2:$A$7</c:f>
              <c:multiLvlStrCache>
                <c:ptCount val="6"/>
                <c:lvl>
                  <c:pt idx="0">
                    <c:v>Supply chain</c:v>
                  </c:pt>
                  <c:pt idx="1">
                    <c:v>Water</c:v>
                  </c:pt>
                  <c:pt idx="2">
                    <c:v>Emissions</c:v>
                  </c:pt>
                  <c:pt idx="3">
                    <c:v>Energy</c:v>
                  </c:pt>
                  <c:pt idx="4">
                    <c:v>Social</c:v>
                  </c:pt>
                  <c:pt idx="5">
                    <c:v>Governance</c:v>
                  </c:pt>
                </c:lvl>
              </c:multiLvlStrCache>
            </c:multiLvlStrRef>
          </c:cat>
          <c:val>
            <c:numRef>
              <c:f>Sheet1!$C$2:$C$7</c:f>
              <c:numCache>
                <c:formatCode>General</c:formatCode>
                <c:ptCount val="6"/>
                <c:pt idx="0">
                  <c:v>85</c:v>
                </c:pt>
                <c:pt idx="1">
                  <c:v>60</c:v>
                </c:pt>
                <c:pt idx="2">
                  <c:v>42</c:v>
                </c:pt>
                <c:pt idx="3">
                  <c:v>30</c:v>
                </c:pt>
                <c:pt idx="4">
                  <c:v>26</c:v>
                </c:pt>
                <c:pt idx="5">
                  <c:v>12</c:v>
                </c:pt>
              </c:numCache>
            </c:numRef>
          </c:val>
        </c:ser>
        <c:dLbls>
          <c:numFmt formatCode="#,##0" sourceLinked="0"/>
          <c:txPr>
            <a:bodyPr/>
            <a:lstStyle/>
            <a:p>
              <a:pPr>
                <a:defRPr b="0" i="0" strike="noStrike" sz="1000" u="none">
                  <a:solidFill>
                    <a:srgbClr val="22282A"/>
                  </a:solidFill>
                  <a:latin typeface="Calibri"/>
                </a:defRPr>
              </a:pPr>
            </a:p>
          </c:txPr>
          <c:showLegendKey val="0"/>
          <c:showVal val="0"/>
          <c:showCatName val="0"/>
          <c:showSerName val="0"/>
          <c:showPercent val="0"/>
          <c:showBubbleSize val="0"/>
          <c:showLeaderLines val="0"/>
        </c:dLbls>
        <c:gapWidth val="50"/>
        <c:overlap val="100"/>
        <c:axId val="2094734554"/>
        <c:axId val="2094734552"/>
        <c:axId val="2094734556"/>
      </c:barChart>
      <c:catAx>
        <c:axId val="2094734554"/>
        <c:scaling>
          <c:orientation val="minMax"/>
        </c:scaling>
        <c:delete val="0"/>
        <c:axPos val="l"/>
        <c:numFmt formatCode="General" sourceLinked="1"/>
        <c:majorTickMark val="out"/>
        <c:minorTickMark val="none"/>
        <c:tickLblPos val="nextTo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100" b="0" i="0" u="none" strike="noStrike">
                <a:solidFill>
                  <a:srgbClr val="5F6B6E"/>
                </a:solidFill>
                <a:latin typeface="Calibri"/>
              </a:defRPr>
            </a:pPr>
            <a:endParaRPr lang="en-US"/>
          </a:p>
        </c:txPr>
        <c:crossAx val="2094734552"/>
        <c:crosses val="autoZero"/>
        <c:auto val="1"/>
        <c:lblAlgn val="ctr"/>
        <c:noMultiLvlLbl val="1"/>
      </c:catAx>
      <c:valAx>
        <c:axId val="2094734552"/>
        <c:scaling>
          <c:orientation val="minMax"/>
        </c:scaling>
        <c:delete val="0"/>
        <c:axPos val="b"/>
        <c:majorGridlines>
          <c:spPr>
            <a:ln w="9525" cap="flat">
              <a:solidFill>
                <a:srgbClr val="DCE4E6"/>
              </a:solidFill>
              <a:prstDash val="solid"/>
              <a:round/>
            </a:ln>
          </c:spPr>
        </c:majorGridlines>
        <c:numFmt formatCode="0%" sourceLinked="0"/>
        <c:majorTickMark val="out"/>
        <c:minorTickMark val="none"/>
        <c:tickLblPos val="low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100" b="0" i="0" u="none" strike="noStrike">
                <a:solidFill>
                  <a:srgbClr val="5F6B6E"/>
                </a:solidFill>
                <a:latin typeface="Calibri"/>
              </a:defRPr>
            </a:pPr>
            <a:endParaRPr lang="en-US"/>
          </a:p>
        </c:txPr>
        <c:crossAx val="2094734554"/>
        <c:crosses val="autoZero"/>
        <c:crossBetween val="between"/>
      </c:valAx>
      <c:spPr>
        <a:noFill/>
        <a:ln>
          <a:noFill/>
        </a:ln>
        <a:effectLst/>
      </c:spPr>
    </c:plotArea>
    <c:legend>
      <c:legendPos val="b"/>
      <c:overlay val="0"/>
      <c:txPr>
        <a:bodyPr/>
        <a:lstStyle/>
        <a:p>
          <a:pPr>
            <a:defRPr sz="1100">
              <a:solidFill>
                <a:srgbClr val="5F6B6E"/>
              </a:solidFill>
              <a:latin typeface="Calibri"/>
              <a:cs typeface="Calibri"/>
            </a:defRPr>
          </a:pPr>
          <a:endParaRPr lang="en-US"/>
        </a:p>
      </c:txPr>
    </c:legend>
    <c:plotVisOnly val="1"/>
    <c:dispBlanksAs val="span"/>
  </c:chart>
  <c:spPr>
    <a:noFill/>
    <a:ln>
      <a:noFill/>
    </a:ln>
    <a:effectLst/>
  </c:spPr>
  <c:externalData r:id="rId1">
    <c:autoUpdate val="0"/>
  </c:externalData>
</c:chartSpace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_rels/notesSlide1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1.xml"/>
		</Relationships>
</file>

<file path=ppt/notesSlides/_rels/notesSlide1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2.xml"/>
		</Relationships>
</file>

<file path=ppt/notesSlides/_rels/notesSlide1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3.xml"/>
		</Relationships>
</file>

<file path=ppt/notesSlides/_rels/notesSlide1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4.xml"/>
		</Relationships>
</file>

<file path=ppt/notesSlides/_rels/notesSlide1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5.xml"/>
		</Relationships>
</file>

<file path=ppt/notesSlides/_rels/notesSlide1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6.xml"/>
		</Relationships>
</file>

<file path=ppt/notesSlides/_rels/notesSlide1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7.xml"/>
		</Relationships>
</file>

<file path=ppt/notesSlides/_rels/notesSlide1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8.xml"/>
		</Relationships>
</file>

<file path=ppt/notesSlides/_rels/notesSlide1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9.xml"/>
		</Relationships>
</file>

<file path=ppt/notesSlides/_rels/notesSlide2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0.xml"/>
		</Relationships>
</file>

<file path=ppt/notesSlides/_rels/notesSlide2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1.xml"/>
		</Relationships>
</file>

<file path=ppt/notesSlides/_rels/notesSlide2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2.xml"/>
		</Relationships>
</file>

<file path=ppt/notesSlides/_rels/notesSlide2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3.xml"/>
		</Relationships>
</file>

<file path=ppt/notesSlides/_rels/notesSlide2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4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chart" Target="/ppt/charts/chart1.xml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chart" Target="/ppt/charts/chart2.xml"/><Relationship Id="rId2" Type="http://schemas.openxmlformats.org/officeDocument/2006/relationships/chart" Target="/ppt/charts/chart3.xml"/><Relationship Id="rId3" Type="http://schemas.openxmlformats.org/officeDocument/2006/relationships/slideLayout" Target="../slideLayouts/slideLayout1.xml"/><Relationship Id="rId4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0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1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3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4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5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6.xml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7.xml"/></Relationships>
</file>

<file path=ppt/slides/_rels/slide1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8.xml"/></Relationships>
</file>

<file path=ppt/slides/_rels/slide1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9.xml"/></Relationships>
</file>

<file path=ppt/slides/_rels/slide2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0.xml"/></Relationships>
</file>

<file path=ppt/slides/_rels/slide2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1.xml"/></Relationships>
</file>

<file path=ppt/slides/_rels/slide2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2.xml"/></Relationships>
</file>

<file path=ppt/slides/_rels/slide2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3.xml"/></Relationships>
</file>

<file path=ppt/slides/_rels/slide2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4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10182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9052560" y="-1371600"/>
            <a:ext cx="5120640" cy="5120640"/>
          </a:xfrm>
          <a:prstGeom prst="ellipse">
            <a:avLst/>
          </a:prstGeom>
          <a:solidFill>
            <a:srgbClr val="00647A"/>
          </a:solidFill>
          <a:ln/>
        </p:spPr>
      </p:sp>
      <p:sp>
        <p:nvSpPr>
          <p:cNvPr id="3" name="Shape 1"/>
          <p:cNvSpPr/>
          <p:nvPr/>
        </p:nvSpPr>
        <p:spPr>
          <a:xfrm>
            <a:off x="10424160" y="4023360"/>
            <a:ext cx="2377440" cy="2377440"/>
          </a:xfrm>
          <a:prstGeom prst="ellipse">
            <a:avLst/>
          </a:prstGeom>
          <a:solidFill>
            <a:srgbClr val="0091A8"/>
          </a:solidFill>
          <a:ln/>
        </p:spPr>
      </p:sp>
      <p:sp>
        <p:nvSpPr>
          <p:cNvPr id="4" name="Text 2"/>
          <p:cNvSpPr txBox="1"/>
          <p:nvPr/>
        </p:nvSpPr>
        <p:spPr>
          <a:xfrm>
            <a:off x="548640" y="1828800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250" kern="0" dirty="0">
                <a:solidFill>
                  <a:srgbClr val="6FC7D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OKIRU  ·  ESG INTELLIGENCE TOOLKIT</a:t>
            </a:r>
            <a:endParaRPr lang="en-US" sz="1200" dirty="0"/>
          </a:p>
        </p:txBody>
      </p:sp>
      <p:sp>
        <p:nvSpPr>
          <p:cNvPr id="5" name="Text 3"/>
          <p:cNvSpPr txBox="1"/>
          <p:nvPr/>
        </p:nvSpPr>
        <p:spPr>
          <a:xfrm>
            <a:off x="548640" y="2286000"/>
            <a:ext cx="804672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46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Report Template</a:t>
            </a:r>
            <a:endParaRPr lang="en-US" sz="4600" dirty="0"/>
          </a:p>
          <a:p>
            <a:pPr indent="0" marL="0">
              <a:buNone/>
            </a:pPr>
            <a:r>
              <a:rPr lang="en-US" sz="46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Specification</a:t>
            </a:r>
            <a:endParaRPr lang="en-US" sz="4600" dirty="0"/>
          </a:p>
        </p:txBody>
      </p:sp>
      <p:sp>
        <p:nvSpPr>
          <p:cNvPr id="6" name="Text 4"/>
          <p:cNvSpPr txBox="1"/>
          <p:nvPr/>
        </p:nvSpPr>
        <p:spPr>
          <a:xfrm>
            <a:off x="548640" y="4114800"/>
            <a:ext cx="749808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C6D3D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Structure, data model and generation logic for automated ESG disclosure and strategy packs</a:t>
            </a:r>
            <a:endParaRPr lang="en-US" sz="1500" dirty="0"/>
          </a:p>
        </p:txBody>
      </p:sp>
      <p:sp>
        <p:nvSpPr>
          <p:cNvPr id="7" name="Text 5"/>
          <p:cNvSpPr txBox="1"/>
          <p:nvPr/>
        </p:nvSpPr>
        <p:spPr>
          <a:xfrm>
            <a:off x="548640" y="5943600"/>
            <a:ext cx="4572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6FC7D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Version 1.0</a:t>
            </a:r>
            <a:endParaRPr lang="en-US" sz="12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310896"/>
            <a:ext cx="110642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200" kern="0" dirty="0">
                <a:solidFill>
                  <a:srgbClr val="0091A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CONTEXT</a:t>
            </a:r>
            <a:endParaRPr lang="en-US" sz="1100" dirty="0"/>
          </a:p>
        </p:txBody>
      </p:sp>
      <p:sp>
        <p:nvSpPr>
          <p:cNvPr id="3" name="Text 1"/>
          <p:cNvSpPr txBox="1"/>
          <p:nvPr/>
        </p:nvSpPr>
        <p:spPr>
          <a:xfrm>
            <a:off x="548640" y="566928"/>
            <a:ext cx="11064240" cy="7132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900" b="1" dirty="0">
                <a:solidFill>
                  <a:srgbClr val="00647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The reference set is four different genres</a:t>
            </a:r>
            <a:endParaRPr lang="en-US" sz="2900" dirty="0"/>
          </a:p>
        </p:txBody>
      </p:sp>
      <p:graphicFrame>
        <p:nvGraphicFramePr>
          <p:cNvPr id="3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548640" y="1645920"/>
          <a:ext cx="11064240" cy="914400"/>
        </p:xfrm>
        <a:graphic>
          <a:graphicData uri="http://schemas.openxmlformats.org/drawingml/2006/table">
            <a:tbl>
              <a:tblPr/>
              <a:tblGrid>
                <a:gridCol w="3017520"/>
                <a:gridCol w="5120640"/>
                <a:gridCol w="2926080"/>
              </a:tblGrid>
              <a:tr h="65836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Document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5DE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E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E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E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647A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What it actually is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5DE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E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E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E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647A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Transferable?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5DE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E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E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E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647A"/>
                    </a:solidFill>
                  </a:tcPr>
                </a:tc>
              </a:tr>
              <a:tr h="65836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22282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JSE Sustainability Disclosure Matrix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5DE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E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E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E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22282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A cross-reference index, not a report. Maps each required disclosure to where it sits in the suite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5DE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E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E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E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b="1" dirty="0">
                          <a:solidFill>
                            <a:srgbClr val="00647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Yes — highest value item in the pack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5DE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E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E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E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65836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22282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Standard Bank Sustainability Disclosures Report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5DE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E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E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E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22282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Issuer self-disclosure for capital markets. Large team, months of work, externally assured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5DE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E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E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E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22282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Structure yes, ambition no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5DE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E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E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E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65836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22282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PIMCO Sustainable Investing Report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5DE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E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E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E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22282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Marketing-led stewardship narrative from an asset manager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5DE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E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E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E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22282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Tone and case-study format only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5DE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E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E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E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65836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22282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FSCA Sustainable Finance Update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5DE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E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E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E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22282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Regulator programme update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5DE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E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E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E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22282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A source for regulatory context, not a template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5DE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E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E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E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</a:tbl>
          </a:graphicData>
        </a:graphic>
      </p:graphicFrame>
      <p:sp>
        <p:nvSpPr>
          <p:cNvPr id="5" name="Text 2"/>
          <p:cNvSpPr txBox="1"/>
          <p:nvPr/>
        </p:nvSpPr>
        <p:spPr>
          <a:xfrm>
            <a:off x="548640" y="5806440"/>
            <a:ext cx="110642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i="1" dirty="0">
                <a:solidFill>
                  <a:srgbClr val="5F6B6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Only three of the four arrived intact for review. Re-upload the Standard Bank report and the existing Okiru sample to calibrate against your current baseline.</a:t>
            </a:r>
            <a:endParaRPr lang="en-US" sz="11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10182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310896"/>
            <a:ext cx="110642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200" kern="0" dirty="0">
                <a:solidFill>
                  <a:srgbClr val="6FC7D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CHALLENGE THE BRIEF</a:t>
            </a:r>
            <a:endParaRPr lang="en-US" sz="1100" dirty="0"/>
          </a:p>
        </p:txBody>
      </p:sp>
      <p:sp>
        <p:nvSpPr>
          <p:cNvPr id="3" name="Text 1"/>
          <p:cNvSpPr txBox="1"/>
          <p:nvPr/>
        </p:nvSpPr>
        <p:spPr>
          <a:xfrm>
            <a:off x="548640" y="566928"/>
            <a:ext cx="11064240" cy="7132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9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“Same weight as a sustainability report” is the wrong target</a:t>
            </a:r>
            <a:endParaRPr lang="en-US" sz="2900" dirty="0"/>
          </a:p>
        </p:txBody>
      </p:sp>
      <p:sp>
        <p:nvSpPr>
          <p:cNvPr id="4" name="Shape 2"/>
          <p:cNvSpPr/>
          <p:nvPr/>
        </p:nvSpPr>
        <p:spPr>
          <a:xfrm>
            <a:off x="548640" y="2377440"/>
            <a:ext cx="3520440" cy="2834640"/>
          </a:xfrm>
          <a:prstGeom prst="roundRect">
            <a:avLst>
              <a:gd name="adj" fmla="val 1935"/>
            </a:avLst>
          </a:prstGeom>
          <a:solidFill>
            <a:srgbClr val="1B2B30"/>
          </a:solidFill>
          <a:ln w="9525">
            <a:solidFill>
              <a:srgbClr val="1B2B30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868680" y="2697480"/>
            <a:ext cx="384048" cy="384048"/>
          </a:xfrm>
          <a:prstGeom prst="ellipse">
            <a:avLst/>
          </a:prstGeom>
          <a:solidFill>
            <a:srgbClr val="0091A8"/>
          </a:solidFill>
          <a:ln/>
        </p:spPr>
      </p:sp>
      <p:sp>
        <p:nvSpPr>
          <p:cNvPr id="6" name="Text 4"/>
          <p:cNvSpPr txBox="1"/>
          <p:nvPr/>
        </p:nvSpPr>
        <p:spPr>
          <a:xfrm>
            <a:off x="868680" y="2697480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</a:t>
            </a:r>
            <a:endParaRPr lang="en-US" sz="1400" dirty="0"/>
          </a:p>
        </p:txBody>
      </p:sp>
      <p:sp>
        <p:nvSpPr>
          <p:cNvPr id="7" name="Text 5"/>
          <p:cNvSpPr txBox="1"/>
          <p:nvPr/>
        </p:nvSpPr>
        <p:spPr>
          <a:xfrm>
            <a:off x="868680" y="3246120"/>
            <a:ext cx="288036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6FC7D6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Weight you cannot automate</a:t>
            </a:r>
            <a:endParaRPr lang="en-US" sz="1700" dirty="0"/>
          </a:p>
        </p:txBody>
      </p:sp>
      <p:sp>
        <p:nvSpPr>
          <p:cNvPr id="8" name="Text 6"/>
          <p:cNvSpPr txBox="1"/>
          <p:nvPr/>
        </p:nvSpPr>
        <p:spPr>
          <a:xfrm>
            <a:off x="868680" y="3886200"/>
            <a:ext cx="2880360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C6D3D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Multi-year data series. External assurance. A named executive putting a reputation behind it.</a:t>
            </a:r>
            <a:endParaRPr lang="en-US" sz="1300" dirty="0"/>
          </a:p>
        </p:txBody>
      </p:sp>
      <p:sp>
        <p:nvSpPr>
          <p:cNvPr id="9" name="Shape 7"/>
          <p:cNvSpPr/>
          <p:nvPr/>
        </p:nvSpPr>
        <p:spPr>
          <a:xfrm>
            <a:off x="4343400" y="2377440"/>
            <a:ext cx="3520440" cy="2834640"/>
          </a:xfrm>
          <a:prstGeom prst="roundRect">
            <a:avLst>
              <a:gd name="adj" fmla="val 1935"/>
            </a:avLst>
          </a:prstGeom>
          <a:solidFill>
            <a:srgbClr val="1B2B30"/>
          </a:solidFill>
          <a:ln w="9525">
            <a:solidFill>
              <a:srgbClr val="1B2B30"/>
            </a:solidFill>
            <a:prstDash val="solid"/>
          </a:ln>
        </p:spPr>
      </p:sp>
      <p:sp>
        <p:nvSpPr>
          <p:cNvPr id="10" name="Shape 8"/>
          <p:cNvSpPr/>
          <p:nvPr/>
        </p:nvSpPr>
        <p:spPr>
          <a:xfrm>
            <a:off x="4663440" y="2697480"/>
            <a:ext cx="384048" cy="384048"/>
          </a:xfrm>
          <a:prstGeom prst="ellipse">
            <a:avLst/>
          </a:prstGeom>
          <a:solidFill>
            <a:srgbClr val="0091A8"/>
          </a:solidFill>
          <a:ln/>
        </p:spPr>
      </p:sp>
      <p:sp>
        <p:nvSpPr>
          <p:cNvPr id="11" name="Text 9"/>
          <p:cNvSpPr txBox="1"/>
          <p:nvPr/>
        </p:nvSpPr>
        <p:spPr>
          <a:xfrm>
            <a:off x="4663440" y="2697480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1400" dirty="0"/>
          </a:p>
        </p:txBody>
      </p:sp>
      <p:sp>
        <p:nvSpPr>
          <p:cNvPr id="12" name="Text 10"/>
          <p:cNvSpPr txBox="1"/>
          <p:nvPr/>
        </p:nvSpPr>
        <p:spPr>
          <a:xfrm>
            <a:off x="4663440" y="3246120"/>
            <a:ext cx="288036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6FC7D6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The benchmark trap</a:t>
            </a:r>
            <a:endParaRPr lang="en-US" sz="1700" dirty="0"/>
          </a:p>
        </p:txBody>
      </p:sp>
      <p:sp>
        <p:nvSpPr>
          <p:cNvPr id="13" name="Text 11"/>
          <p:cNvSpPr txBox="1"/>
          <p:nvPr/>
        </p:nvSpPr>
        <p:spPr>
          <a:xfrm>
            <a:off x="4663440" y="3886200"/>
            <a:ext cx="2880360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C6D3D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If the output looks like an SBG report, every reader benchmarks it against one — and it loses on the exact dimensions that make those reports credible.</a:t>
            </a:r>
            <a:endParaRPr lang="en-US" sz="1300" dirty="0"/>
          </a:p>
        </p:txBody>
      </p:sp>
      <p:sp>
        <p:nvSpPr>
          <p:cNvPr id="14" name="Shape 12"/>
          <p:cNvSpPr/>
          <p:nvPr/>
        </p:nvSpPr>
        <p:spPr>
          <a:xfrm>
            <a:off x="8138160" y="2377440"/>
            <a:ext cx="3520440" cy="2834640"/>
          </a:xfrm>
          <a:prstGeom prst="roundRect">
            <a:avLst>
              <a:gd name="adj" fmla="val 1935"/>
            </a:avLst>
          </a:prstGeom>
          <a:solidFill>
            <a:srgbClr val="1B2B30"/>
          </a:solidFill>
          <a:ln w="9525">
            <a:solidFill>
              <a:srgbClr val="1B2B30"/>
            </a:solidFill>
            <a:prstDash val="solid"/>
          </a:ln>
        </p:spPr>
      </p:sp>
      <p:sp>
        <p:nvSpPr>
          <p:cNvPr id="15" name="Shape 13"/>
          <p:cNvSpPr/>
          <p:nvPr/>
        </p:nvSpPr>
        <p:spPr>
          <a:xfrm>
            <a:off x="8458200" y="2697480"/>
            <a:ext cx="384048" cy="384048"/>
          </a:xfrm>
          <a:prstGeom prst="ellipse">
            <a:avLst/>
          </a:prstGeom>
          <a:solidFill>
            <a:srgbClr val="0091A8"/>
          </a:solidFill>
          <a:ln/>
        </p:spPr>
      </p:sp>
      <p:sp>
        <p:nvSpPr>
          <p:cNvPr id="16" name="Text 14"/>
          <p:cNvSpPr txBox="1"/>
          <p:nvPr/>
        </p:nvSpPr>
        <p:spPr>
          <a:xfrm>
            <a:off x="8458200" y="2697480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1400" dirty="0"/>
          </a:p>
        </p:txBody>
      </p:sp>
      <p:sp>
        <p:nvSpPr>
          <p:cNvPr id="17" name="Text 15"/>
          <p:cNvSpPr txBox="1"/>
          <p:nvPr/>
        </p:nvSpPr>
        <p:spPr>
          <a:xfrm>
            <a:off x="8458200" y="3246120"/>
            <a:ext cx="288036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6FC7D6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The inherited flaw</a:t>
            </a:r>
            <a:endParaRPr lang="en-US" sz="1700" dirty="0"/>
          </a:p>
        </p:txBody>
      </p:sp>
      <p:sp>
        <p:nvSpPr>
          <p:cNvPr id="18" name="Text 16"/>
          <p:cNvSpPr txBox="1"/>
          <p:nvPr/>
        </p:nvSpPr>
        <p:spPr>
          <a:xfrm>
            <a:off x="8458200" y="3886200"/>
            <a:ext cx="2880360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C6D3D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Length as a proxy for rigour. A 120-page narrative is not a stronger document than a 45-page sourced one.</a:t>
            </a:r>
            <a:endParaRPr lang="en-US" sz="13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310896"/>
            <a:ext cx="110642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200" kern="0" dirty="0">
                <a:solidFill>
                  <a:srgbClr val="0091A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STRONGER POSITION</a:t>
            </a:r>
            <a:endParaRPr lang="en-US" sz="1100" dirty="0"/>
          </a:p>
        </p:txBody>
      </p:sp>
      <p:sp>
        <p:nvSpPr>
          <p:cNvPr id="3" name="Text 1"/>
          <p:cNvSpPr txBox="1"/>
          <p:nvPr/>
        </p:nvSpPr>
        <p:spPr>
          <a:xfrm>
            <a:off x="548640" y="566928"/>
            <a:ext cx="11064240" cy="7132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900" b="1" dirty="0">
                <a:solidFill>
                  <a:srgbClr val="00647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Credibility comes from traceability, not volume</a:t>
            </a:r>
            <a:endParaRPr lang="en-US" sz="2900" dirty="0"/>
          </a:p>
        </p:txBody>
      </p:sp>
      <p:sp>
        <p:nvSpPr>
          <p:cNvPr id="4" name="Shape 2"/>
          <p:cNvSpPr/>
          <p:nvPr/>
        </p:nvSpPr>
        <p:spPr>
          <a:xfrm>
            <a:off x="548640" y="1691640"/>
            <a:ext cx="5486400" cy="4023360"/>
          </a:xfrm>
          <a:prstGeom prst="roundRect">
            <a:avLst>
              <a:gd name="adj" fmla="val 1364"/>
            </a:avLst>
          </a:prstGeom>
          <a:solidFill>
            <a:srgbClr val="F3F6F7"/>
          </a:solidFill>
          <a:ln w="9525">
            <a:solidFill>
              <a:srgbClr val="DCE4E6"/>
            </a:solidFill>
            <a:prstDash val="solid"/>
          </a:ln>
        </p:spPr>
      </p:sp>
      <p:sp>
        <p:nvSpPr>
          <p:cNvPr id="5" name="Text 3"/>
          <p:cNvSpPr txBox="1"/>
          <p:nvPr/>
        </p:nvSpPr>
        <p:spPr>
          <a:xfrm>
            <a:off x="914400" y="1965960"/>
            <a:ext cx="47548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00647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What makes a number defensible</a:t>
            </a:r>
            <a:endParaRPr lang="en-US" sz="1800" dirty="0"/>
          </a:p>
        </p:txBody>
      </p:sp>
      <p:sp>
        <p:nvSpPr>
          <p:cNvPr id="6" name="Text 4"/>
          <p:cNvSpPr txBox="1"/>
          <p:nvPr/>
        </p:nvSpPr>
        <p:spPr>
          <a:xfrm>
            <a:off x="914400" y="2514600"/>
            <a:ext cx="4754880" cy="2926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400" dirty="0">
                <a:solidFill>
                  <a:srgbClr val="2228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Source system and named owner</a:t>
            </a:r>
            <a:endParaRPr lang="en-US" sz="140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400" dirty="0">
                <a:solidFill>
                  <a:srgbClr val="2228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Boundary and entities included</a:t>
            </a:r>
            <a:endParaRPr lang="en-US" sz="140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400" dirty="0">
                <a:solidFill>
                  <a:srgbClr val="2228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Calculation method, stated</a:t>
            </a:r>
            <a:endParaRPr lang="en-US" sz="140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400" dirty="0">
                <a:solidFill>
                  <a:srgbClr val="2228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Emission factor and its source version</a:t>
            </a:r>
            <a:endParaRPr lang="en-US" sz="140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400" dirty="0">
                <a:solidFill>
                  <a:srgbClr val="2228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Data quality rating, 1 to 5</a:t>
            </a:r>
            <a:endParaRPr lang="en-US" sz="140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400" dirty="0">
                <a:solidFill>
                  <a:srgbClr val="2228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Assurance status, even where the answer is none</a:t>
            </a:r>
            <a:endParaRPr lang="en-US" sz="1400" dirty="0"/>
          </a:p>
        </p:txBody>
      </p:sp>
      <p:sp>
        <p:nvSpPr>
          <p:cNvPr id="7" name="Shape 5"/>
          <p:cNvSpPr/>
          <p:nvPr/>
        </p:nvSpPr>
        <p:spPr>
          <a:xfrm>
            <a:off x="6492240" y="1691640"/>
            <a:ext cx="5120640" cy="4023360"/>
          </a:xfrm>
          <a:prstGeom prst="roundRect">
            <a:avLst>
              <a:gd name="adj" fmla="val 1364"/>
            </a:avLst>
          </a:prstGeom>
          <a:solidFill>
            <a:srgbClr val="101820"/>
          </a:solidFill>
          <a:ln w="9525">
            <a:solidFill>
              <a:srgbClr val="101820"/>
            </a:solidFill>
            <a:prstDash val="solid"/>
          </a:ln>
        </p:spPr>
      </p:sp>
      <p:sp>
        <p:nvSpPr>
          <p:cNvPr id="8" name="Text 6"/>
          <p:cNvSpPr txBox="1"/>
          <p:nvPr/>
        </p:nvSpPr>
        <p:spPr>
          <a:xfrm>
            <a:off x="6858000" y="1920240"/>
            <a:ext cx="201168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6000" b="1" dirty="0">
                <a:solidFill>
                  <a:srgbClr val="6FC7D6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45</a:t>
            </a:r>
            <a:endParaRPr lang="en-US" sz="6000" dirty="0"/>
          </a:p>
        </p:txBody>
      </p:sp>
      <p:sp>
        <p:nvSpPr>
          <p:cNvPr id="9" name="Text 7"/>
          <p:cNvSpPr txBox="1"/>
          <p:nvPr/>
        </p:nvSpPr>
        <p:spPr>
          <a:xfrm>
            <a:off x="6858000" y="2880360"/>
            <a:ext cx="43891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C6D3D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page target for the core report</a:t>
            </a:r>
            <a:endParaRPr lang="en-US" sz="1300" dirty="0"/>
          </a:p>
        </p:txBody>
      </p:sp>
      <p:sp>
        <p:nvSpPr>
          <p:cNvPr id="10" name="Text 8"/>
          <p:cNvSpPr txBox="1"/>
          <p:nvPr/>
        </p:nvSpPr>
        <p:spPr>
          <a:xfrm>
            <a:off x="6858000" y="3383280"/>
            <a:ext cx="438912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C6D3D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Detail lives in the Data Book. If the core exceeds 60 pages the generator pushes tables out rather than extending the document.</a:t>
            </a:r>
            <a:endParaRPr lang="en-US" sz="1300" dirty="0"/>
          </a:p>
        </p:txBody>
      </p:sp>
      <p:sp>
        <p:nvSpPr>
          <p:cNvPr id="11" name="Text 9"/>
          <p:cNvSpPr txBox="1"/>
          <p:nvPr/>
        </p:nvSpPr>
        <p:spPr>
          <a:xfrm>
            <a:off x="6858000" y="4434840"/>
            <a:ext cx="438912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i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“The disclosure record you can defend — every figure sourced, every gap named, and a costed plan to close them.”</a:t>
            </a:r>
            <a:endParaRPr lang="en-US" sz="14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310896"/>
            <a:ext cx="110642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200" kern="0" dirty="0">
                <a:solidFill>
                  <a:srgbClr val="0091A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QUALITATIVE AND QUANTITATIVE</a:t>
            </a:r>
            <a:endParaRPr lang="en-US" sz="1100" dirty="0"/>
          </a:p>
        </p:txBody>
      </p:sp>
      <p:sp>
        <p:nvSpPr>
          <p:cNvPr id="3" name="Text 1"/>
          <p:cNvSpPr txBox="1"/>
          <p:nvPr/>
        </p:nvSpPr>
        <p:spPr>
          <a:xfrm>
            <a:off x="548640" y="566928"/>
            <a:ext cx="11064240" cy="7132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900" b="1" dirty="0">
                <a:solidFill>
                  <a:srgbClr val="00647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Every ESG report is two documents in one</a:t>
            </a:r>
            <a:endParaRPr lang="en-US" sz="2900" dirty="0"/>
          </a:p>
        </p:txBody>
      </p:sp>
      <p:sp>
        <p:nvSpPr>
          <p:cNvPr id="4" name="Text 2"/>
          <p:cNvSpPr txBox="1"/>
          <p:nvPr/>
        </p:nvSpPr>
        <p:spPr>
          <a:xfrm>
            <a:off x="548640" y="1371600"/>
            <a:ext cx="1106424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5F6B6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toolkit must generate both and control both. Most automated reporting handles the numbers well and lets the narrative run free.</a:t>
            </a:r>
            <a:endParaRPr lang="en-US" sz="1400" dirty="0"/>
          </a:p>
        </p:txBody>
      </p:sp>
      <p:sp>
        <p:nvSpPr>
          <p:cNvPr id="5" name="Shape 3"/>
          <p:cNvSpPr/>
          <p:nvPr/>
        </p:nvSpPr>
        <p:spPr>
          <a:xfrm>
            <a:off x="548640" y="1965960"/>
            <a:ext cx="5349240" cy="3840480"/>
          </a:xfrm>
          <a:prstGeom prst="roundRect">
            <a:avLst>
              <a:gd name="adj" fmla="val 1429"/>
            </a:avLst>
          </a:prstGeom>
          <a:solidFill>
            <a:srgbClr val="E9F3F5"/>
          </a:solidFill>
          <a:ln w="9525">
            <a:solidFill>
              <a:srgbClr val="E9F3F5"/>
            </a:solidFill>
            <a:prstDash val="solid"/>
          </a:ln>
        </p:spPr>
      </p:sp>
      <p:sp>
        <p:nvSpPr>
          <p:cNvPr id="6" name="Text 4"/>
          <p:cNvSpPr txBox="1"/>
          <p:nvPr/>
        </p:nvSpPr>
        <p:spPr>
          <a:xfrm>
            <a:off x="868680" y="2194560"/>
            <a:ext cx="46634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200" kern="0" dirty="0">
                <a:solidFill>
                  <a:srgbClr val="0091A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QUANTITATIVE</a:t>
            </a:r>
            <a:endParaRPr lang="en-US" sz="1100" dirty="0"/>
          </a:p>
        </p:txBody>
      </p:sp>
      <p:sp>
        <p:nvSpPr>
          <p:cNvPr id="7" name="Text 5"/>
          <p:cNvSpPr txBox="1"/>
          <p:nvPr/>
        </p:nvSpPr>
        <p:spPr>
          <a:xfrm>
            <a:off x="868680" y="2487168"/>
            <a:ext cx="46634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00647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What can be counted</a:t>
            </a:r>
            <a:endParaRPr lang="en-US" sz="2000" dirty="0"/>
          </a:p>
        </p:txBody>
      </p:sp>
      <p:sp>
        <p:nvSpPr>
          <p:cNvPr id="8" name="Text 6"/>
          <p:cNvSpPr txBox="1"/>
          <p:nvPr/>
        </p:nvSpPr>
        <p:spPr>
          <a:xfrm>
            <a:off x="868680" y="2971800"/>
            <a:ext cx="4663440" cy="1463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250" dirty="0">
                <a:solidFill>
                  <a:srgbClr val="2228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Emissions, energy, water, waste, intensity ratios</a:t>
            </a:r>
            <a:endParaRPr lang="en-US" sz="125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250" dirty="0">
                <a:solidFill>
                  <a:srgbClr val="2228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Headcount, demographics, pay ratios, spend</a:t>
            </a:r>
            <a:endParaRPr lang="en-US" sz="125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250" dirty="0">
                <a:solidFill>
                  <a:srgbClr val="2228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Incidents, fines, training coverage, tax borne</a:t>
            </a:r>
            <a:endParaRPr lang="en-US" sz="125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250" dirty="0">
                <a:solidFill>
                  <a:srgbClr val="2228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Baselines, targets, variance, trajectory</a:t>
            </a:r>
            <a:endParaRPr lang="en-US" sz="1250" dirty="0"/>
          </a:p>
        </p:txBody>
      </p:sp>
      <p:sp>
        <p:nvSpPr>
          <p:cNvPr id="9" name="Text 7"/>
          <p:cNvSpPr txBox="1"/>
          <p:nvPr/>
        </p:nvSpPr>
        <p:spPr>
          <a:xfrm>
            <a:off x="868680" y="4709160"/>
            <a:ext cx="466344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i="1" dirty="0">
                <a:solidFill>
                  <a:srgbClr val="5F6B6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Controlled by the metric record schema. Each number carries provenance, boundary, quality and assurance status.</a:t>
            </a:r>
            <a:endParaRPr lang="en-US" sz="1200" dirty="0"/>
          </a:p>
        </p:txBody>
      </p:sp>
      <p:sp>
        <p:nvSpPr>
          <p:cNvPr id="10" name="Shape 8"/>
          <p:cNvSpPr/>
          <p:nvPr/>
        </p:nvSpPr>
        <p:spPr>
          <a:xfrm>
            <a:off x="6263640" y="1965960"/>
            <a:ext cx="5349240" cy="3840480"/>
          </a:xfrm>
          <a:prstGeom prst="roundRect">
            <a:avLst>
              <a:gd name="adj" fmla="val 1429"/>
            </a:avLst>
          </a:prstGeom>
          <a:solidFill>
            <a:srgbClr val="101820"/>
          </a:solidFill>
          <a:ln w="9525">
            <a:solidFill>
              <a:srgbClr val="101820"/>
            </a:solidFill>
            <a:prstDash val="solid"/>
          </a:ln>
        </p:spPr>
      </p:sp>
      <p:sp>
        <p:nvSpPr>
          <p:cNvPr id="11" name="Text 9"/>
          <p:cNvSpPr txBox="1"/>
          <p:nvPr/>
        </p:nvSpPr>
        <p:spPr>
          <a:xfrm>
            <a:off x="6583680" y="2194560"/>
            <a:ext cx="46634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200" kern="0" dirty="0">
                <a:solidFill>
                  <a:srgbClr val="6FC7D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QUALITATIVE</a:t>
            </a:r>
            <a:endParaRPr lang="en-US" sz="1100" dirty="0"/>
          </a:p>
        </p:txBody>
      </p:sp>
      <p:sp>
        <p:nvSpPr>
          <p:cNvPr id="12" name="Text 10"/>
          <p:cNvSpPr txBox="1"/>
          <p:nvPr/>
        </p:nvSpPr>
        <p:spPr>
          <a:xfrm>
            <a:off x="6583680" y="2487168"/>
            <a:ext cx="46634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What must be explained</a:t>
            </a:r>
            <a:endParaRPr lang="en-US" sz="2000" dirty="0"/>
          </a:p>
        </p:txBody>
      </p:sp>
      <p:sp>
        <p:nvSpPr>
          <p:cNvPr id="13" name="Text 11"/>
          <p:cNvSpPr txBox="1"/>
          <p:nvPr/>
        </p:nvSpPr>
        <p:spPr>
          <a:xfrm>
            <a:off x="6583680" y="2971800"/>
            <a:ext cx="4663440" cy="1463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250" dirty="0">
                <a:solidFill>
                  <a:srgbClr val="C6D3D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Governance, oversight, accountability structures</a:t>
            </a:r>
            <a:endParaRPr lang="en-US" sz="125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250" dirty="0">
                <a:solidFill>
                  <a:srgbClr val="C6D3D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Materiality method and stakeholder engagement</a:t>
            </a:r>
            <a:endParaRPr lang="en-US" sz="125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250" dirty="0">
                <a:solidFill>
                  <a:srgbClr val="C6D3D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Strategy, transition plan, management approach</a:t>
            </a:r>
            <a:endParaRPr lang="en-US" sz="125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250" dirty="0">
                <a:solidFill>
                  <a:srgbClr val="C6D3D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Why a number moved, and what is being done</a:t>
            </a:r>
            <a:endParaRPr lang="en-US" sz="1250" dirty="0"/>
          </a:p>
        </p:txBody>
      </p:sp>
      <p:sp>
        <p:nvSpPr>
          <p:cNvPr id="14" name="Text 12"/>
          <p:cNvSpPr txBox="1"/>
          <p:nvPr/>
        </p:nvSpPr>
        <p:spPr>
          <a:xfrm>
            <a:off x="6583680" y="4709160"/>
            <a:ext cx="466344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i="1" dirty="0">
                <a:solidFill>
                  <a:srgbClr val="7FCAD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Controlled by the claim tier taxonomy and evidence binding. No assertion renders without something behind it.</a:t>
            </a:r>
            <a:endParaRPr lang="en-US" sz="1200" dirty="0"/>
          </a:p>
        </p:txBody>
      </p:sp>
      <p:sp>
        <p:nvSpPr>
          <p:cNvPr id="15" name="Shape 13"/>
          <p:cNvSpPr/>
          <p:nvPr/>
        </p:nvSpPr>
        <p:spPr>
          <a:xfrm>
            <a:off x="5742432" y="3657600"/>
            <a:ext cx="676656" cy="676656"/>
          </a:xfrm>
          <a:prstGeom prst="ellipse">
            <a:avLst/>
          </a:prstGeom>
          <a:solidFill>
            <a:srgbClr val="0091A8"/>
          </a:solidFill>
          <a:ln/>
        </p:spPr>
      </p:sp>
      <p:sp>
        <p:nvSpPr>
          <p:cNvPr id="16" name="Text 14"/>
          <p:cNvSpPr txBox="1"/>
          <p:nvPr/>
        </p:nvSpPr>
        <p:spPr>
          <a:xfrm>
            <a:off x="5742432" y="3657600"/>
            <a:ext cx="676656" cy="6766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+</a:t>
            </a:r>
            <a:endParaRPr lang="en-US" sz="24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310896"/>
            <a:ext cx="110642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200" kern="0" dirty="0">
                <a:solidFill>
                  <a:srgbClr val="0091A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QUANTITATIVE REPORTING</a:t>
            </a:r>
            <a:endParaRPr lang="en-US" sz="1100" dirty="0"/>
          </a:p>
        </p:txBody>
      </p:sp>
      <p:sp>
        <p:nvSpPr>
          <p:cNvPr id="3" name="Text 1"/>
          <p:cNvSpPr txBox="1"/>
          <p:nvPr/>
        </p:nvSpPr>
        <p:spPr>
          <a:xfrm>
            <a:off x="548640" y="566928"/>
            <a:ext cx="11064240" cy="7132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900" b="1" dirty="0">
                <a:solidFill>
                  <a:srgbClr val="00647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Anatomy of one defensible number</a:t>
            </a:r>
            <a:endParaRPr lang="en-US" sz="2900" dirty="0"/>
          </a:p>
        </p:txBody>
      </p:sp>
      <p:sp>
        <p:nvSpPr>
          <p:cNvPr id="4" name="Text 2"/>
          <p:cNvSpPr txBox="1"/>
          <p:nvPr/>
        </p:nvSpPr>
        <p:spPr>
          <a:xfrm>
            <a:off x="548640" y="1371600"/>
            <a:ext cx="1106424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5F6B6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What a single entry in the metric register carries. Everything in the panels is what an assurance provider asks for first.</a:t>
            </a:r>
            <a:endParaRPr lang="en-US" sz="1400" dirty="0"/>
          </a:p>
        </p:txBody>
      </p:sp>
      <p:sp>
        <p:nvSpPr>
          <p:cNvPr id="5" name="Shape 3"/>
          <p:cNvSpPr/>
          <p:nvPr/>
        </p:nvSpPr>
        <p:spPr>
          <a:xfrm>
            <a:off x="548640" y="1965960"/>
            <a:ext cx="3931920" cy="1874520"/>
          </a:xfrm>
          <a:prstGeom prst="roundRect">
            <a:avLst>
              <a:gd name="adj" fmla="val 2927"/>
            </a:avLst>
          </a:prstGeom>
          <a:solidFill>
            <a:srgbClr val="101820"/>
          </a:solidFill>
          <a:ln w="9525">
            <a:solidFill>
              <a:srgbClr val="101820"/>
            </a:solidFill>
            <a:prstDash val="solid"/>
          </a:ln>
        </p:spPr>
      </p:sp>
      <p:sp>
        <p:nvSpPr>
          <p:cNvPr id="6" name="Text 4"/>
          <p:cNvSpPr txBox="1"/>
          <p:nvPr/>
        </p:nvSpPr>
        <p:spPr>
          <a:xfrm>
            <a:off x="822960" y="2121408"/>
            <a:ext cx="338328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4200" b="1" dirty="0">
                <a:solidFill>
                  <a:srgbClr val="6FC7D6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12 480</a:t>
            </a:r>
            <a:endParaRPr lang="en-US" sz="4200" dirty="0"/>
          </a:p>
        </p:txBody>
      </p:sp>
      <p:sp>
        <p:nvSpPr>
          <p:cNvPr id="7" name="Text 5"/>
          <p:cNvSpPr txBox="1"/>
          <p:nvPr/>
        </p:nvSpPr>
        <p:spPr>
          <a:xfrm>
            <a:off x="822960" y="2926080"/>
            <a:ext cx="33832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C6D3D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tCO₂e  ·  Scope 1  ·  FY2026</a:t>
            </a:r>
            <a:endParaRPr lang="en-US" sz="1300" dirty="0"/>
          </a:p>
        </p:txBody>
      </p:sp>
      <p:sp>
        <p:nvSpPr>
          <p:cNvPr id="8" name="Text 6"/>
          <p:cNvSpPr txBox="1"/>
          <p:nvPr/>
        </p:nvSpPr>
        <p:spPr>
          <a:xfrm>
            <a:off x="822960" y="3291840"/>
            <a:ext cx="33832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7FCAD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Down 8.4% on FY2025 restated</a:t>
            </a:r>
            <a:endParaRPr lang="en-US" sz="1200" dirty="0"/>
          </a:p>
        </p:txBody>
      </p:sp>
      <p:sp>
        <p:nvSpPr>
          <p:cNvPr id="9" name="Shape 7"/>
          <p:cNvSpPr/>
          <p:nvPr/>
        </p:nvSpPr>
        <p:spPr>
          <a:xfrm>
            <a:off x="548640" y="4069080"/>
            <a:ext cx="3931920" cy="1737360"/>
          </a:xfrm>
          <a:prstGeom prst="roundRect">
            <a:avLst>
              <a:gd name="adj" fmla="val 3158"/>
            </a:avLst>
          </a:prstGeom>
          <a:solidFill>
            <a:srgbClr val="E9F3F5"/>
          </a:solidFill>
          <a:ln w="9525">
            <a:solidFill>
              <a:srgbClr val="E9F3F5"/>
            </a:solidFill>
            <a:prstDash val="solid"/>
          </a:ln>
        </p:spPr>
      </p:sp>
      <p:sp>
        <p:nvSpPr>
          <p:cNvPr id="10" name="Text 8"/>
          <p:cNvSpPr txBox="1"/>
          <p:nvPr/>
        </p:nvSpPr>
        <p:spPr>
          <a:xfrm>
            <a:off x="822960" y="4251960"/>
            <a:ext cx="33832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00647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What the reader sees on the page</a:t>
            </a:r>
            <a:endParaRPr lang="en-US" sz="1400" dirty="0"/>
          </a:p>
        </p:txBody>
      </p:sp>
      <p:sp>
        <p:nvSpPr>
          <p:cNvPr id="11" name="Text 9"/>
          <p:cNvSpPr txBox="1"/>
          <p:nvPr/>
        </p:nvSpPr>
        <p:spPr>
          <a:xfrm>
            <a:off x="822960" y="4599432"/>
            <a:ext cx="3383280" cy="10515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5F6B6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figure, the unit, the comparison and a footnote marker. Everything alongside sits in the Data Book and the disclosure index.</a:t>
            </a:r>
            <a:endParaRPr lang="en-US" sz="1150" dirty="0"/>
          </a:p>
        </p:txBody>
      </p:sp>
      <p:sp>
        <p:nvSpPr>
          <p:cNvPr id="12" name="Shape 10"/>
          <p:cNvSpPr/>
          <p:nvPr/>
        </p:nvSpPr>
        <p:spPr>
          <a:xfrm>
            <a:off x="4800600" y="1965960"/>
            <a:ext cx="2148840" cy="1170432"/>
          </a:xfrm>
          <a:prstGeom prst="roundRect">
            <a:avLst>
              <a:gd name="adj" fmla="val 4688"/>
            </a:avLst>
          </a:prstGeom>
          <a:solidFill>
            <a:srgbClr val="E9F3F5"/>
          </a:solidFill>
          <a:ln w="9525">
            <a:solidFill>
              <a:srgbClr val="E9F3F5"/>
            </a:solidFill>
            <a:prstDash val="solid"/>
          </a:ln>
        </p:spPr>
      </p:sp>
      <p:sp>
        <p:nvSpPr>
          <p:cNvPr id="13" name="Text 11"/>
          <p:cNvSpPr txBox="1"/>
          <p:nvPr/>
        </p:nvSpPr>
        <p:spPr>
          <a:xfrm>
            <a:off x="4965192" y="2084832"/>
            <a:ext cx="1819656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spc="150" kern="0" dirty="0">
                <a:solidFill>
                  <a:srgbClr val="0091A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BOUNDARY</a:t>
            </a:r>
            <a:endParaRPr lang="en-US" sz="900" dirty="0"/>
          </a:p>
        </p:txBody>
      </p:sp>
      <p:sp>
        <p:nvSpPr>
          <p:cNvPr id="14" name="Text 12"/>
          <p:cNvSpPr txBox="1"/>
          <p:nvPr/>
        </p:nvSpPr>
        <p:spPr>
          <a:xfrm>
            <a:off x="4965192" y="2331720"/>
            <a:ext cx="1819656" cy="6675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2228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Operational control, 5 depots</a:t>
            </a:r>
            <a:endParaRPr lang="en-US" sz="1150" dirty="0"/>
          </a:p>
        </p:txBody>
      </p:sp>
      <p:sp>
        <p:nvSpPr>
          <p:cNvPr id="15" name="Shape 13"/>
          <p:cNvSpPr/>
          <p:nvPr/>
        </p:nvSpPr>
        <p:spPr>
          <a:xfrm>
            <a:off x="7132320" y="1965960"/>
            <a:ext cx="2148840" cy="1170432"/>
          </a:xfrm>
          <a:prstGeom prst="roundRect">
            <a:avLst>
              <a:gd name="adj" fmla="val 4688"/>
            </a:avLst>
          </a:prstGeom>
          <a:solidFill>
            <a:srgbClr val="E9F3F5"/>
          </a:solidFill>
          <a:ln w="9525">
            <a:solidFill>
              <a:srgbClr val="E9F3F5"/>
            </a:solidFill>
            <a:prstDash val="solid"/>
          </a:ln>
        </p:spPr>
      </p:sp>
      <p:sp>
        <p:nvSpPr>
          <p:cNvPr id="16" name="Text 14"/>
          <p:cNvSpPr txBox="1"/>
          <p:nvPr/>
        </p:nvSpPr>
        <p:spPr>
          <a:xfrm>
            <a:off x="7296912" y="2084832"/>
            <a:ext cx="1819656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spc="150" kern="0" dirty="0">
                <a:solidFill>
                  <a:srgbClr val="0091A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SOURCE SYSTEM</a:t>
            </a:r>
            <a:endParaRPr lang="en-US" sz="900" dirty="0"/>
          </a:p>
        </p:txBody>
      </p:sp>
      <p:sp>
        <p:nvSpPr>
          <p:cNvPr id="17" name="Text 15"/>
          <p:cNvSpPr txBox="1"/>
          <p:nvPr/>
        </p:nvSpPr>
        <p:spPr>
          <a:xfrm>
            <a:off x="7296912" y="2331720"/>
            <a:ext cx="1819656" cy="6675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2228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Fuel card ledger and meter reads</a:t>
            </a:r>
            <a:endParaRPr lang="en-US" sz="1150" dirty="0"/>
          </a:p>
        </p:txBody>
      </p:sp>
      <p:sp>
        <p:nvSpPr>
          <p:cNvPr id="18" name="Shape 16"/>
          <p:cNvSpPr/>
          <p:nvPr/>
        </p:nvSpPr>
        <p:spPr>
          <a:xfrm>
            <a:off x="9464040" y="1965960"/>
            <a:ext cx="2148840" cy="1170432"/>
          </a:xfrm>
          <a:prstGeom prst="roundRect">
            <a:avLst>
              <a:gd name="adj" fmla="val 4688"/>
            </a:avLst>
          </a:prstGeom>
          <a:solidFill>
            <a:srgbClr val="E9F3F5"/>
          </a:solidFill>
          <a:ln w="9525">
            <a:solidFill>
              <a:srgbClr val="E9F3F5"/>
            </a:solidFill>
            <a:prstDash val="solid"/>
          </a:ln>
        </p:spPr>
      </p:sp>
      <p:sp>
        <p:nvSpPr>
          <p:cNvPr id="19" name="Text 17"/>
          <p:cNvSpPr txBox="1"/>
          <p:nvPr/>
        </p:nvSpPr>
        <p:spPr>
          <a:xfrm>
            <a:off x="9628632" y="2084832"/>
            <a:ext cx="1819656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spc="150" kern="0" dirty="0">
                <a:solidFill>
                  <a:srgbClr val="0091A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OWNER</a:t>
            </a:r>
            <a:endParaRPr lang="en-US" sz="900" dirty="0"/>
          </a:p>
        </p:txBody>
      </p:sp>
      <p:sp>
        <p:nvSpPr>
          <p:cNvPr id="20" name="Text 18"/>
          <p:cNvSpPr txBox="1"/>
          <p:nvPr/>
        </p:nvSpPr>
        <p:spPr>
          <a:xfrm>
            <a:off x="9628632" y="2331720"/>
            <a:ext cx="1819656" cy="6675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2228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Group Operations Manager</a:t>
            </a:r>
            <a:endParaRPr lang="en-US" sz="1150" dirty="0"/>
          </a:p>
        </p:txBody>
      </p:sp>
      <p:sp>
        <p:nvSpPr>
          <p:cNvPr id="21" name="Shape 19"/>
          <p:cNvSpPr/>
          <p:nvPr/>
        </p:nvSpPr>
        <p:spPr>
          <a:xfrm>
            <a:off x="4800600" y="3273552"/>
            <a:ext cx="2148840" cy="1170432"/>
          </a:xfrm>
          <a:prstGeom prst="roundRect">
            <a:avLst>
              <a:gd name="adj" fmla="val 4688"/>
            </a:avLst>
          </a:prstGeom>
          <a:solidFill>
            <a:srgbClr val="E9F3F5"/>
          </a:solidFill>
          <a:ln w="9525">
            <a:solidFill>
              <a:srgbClr val="E9F3F5"/>
            </a:solidFill>
            <a:prstDash val="solid"/>
          </a:ln>
        </p:spPr>
      </p:sp>
      <p:sp>
        <p:nvSpPr>
          <p:cNvPr id="22" name="Text 20"/>
          <p:cNvSpPr txBox="1"/>
          <p:nvPr/>
        </p:nvSpPr>
        <p:spPr>
          <a:xfrm>
            <a:off x="4965192" y="3392424"/>
            <a:ext cx="1819656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spc="150" kern="0" dirty="0">
                <a:solidFill>
                  <a:srgbClr val="0091A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METHOD</a:t>
            </a:r>
            <a:endParaRPr lang="en-US" sz="900" dirty="0"/>
          </a:p>
        </p:txBody>
      </p:sp>
      <p:sp>
        <p:nvSpPr>
          <p:cNvPr id="23" name="Text 21"/>
          <p:cNvSpPr txBox="1"/>
          <p:nvPr/>
        </p:nvSpPr>
        <p:spPr>
          <a:xfrm>
            <a:off x="4965192" y="3639312"/>
            <a:ext cx="1819656" cy="6675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2228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Litres × DEFRA 2025 factor</a:t>
            </a:r>
            <a:endParaRPr lang="en-US" sz="1150" dirty="0"/>
          </a:p>
        </p:txBody>
      </p:sp>
      <p:sp>
        <p:nvSpPr>
          <p:cNvPr id="24" name="Shape 22"/>
          <p:cNvSpPr/>
          <p:nvPr/>
        </p:nvSpPr>
        <p:spPr>
          <a:xfrm>
            <a:off x="7132320" y="3273552"/>
            <a:ext cx="2148840" cy="1170432"/>
          </a:xfrm>
          <a:prstGeom prst="roundRect">
            <a:avLst>
              <a:gd name="adj" fmla="val 4688"/>
            </a:avLst>
          </a:prstGeom>
          <a:solidFill>
            <a:srgbClr val="E9F3F5"/>
          </a:solidFill>
          <a:ln w="9525">
            <a:solidFill>
              <a:srgbClr val="E9F3F5"/>
            </a:solidFill>
            <a:prstDash val="solid"/>
          </a:ln>
        </p:spPr>
      </p:sp>
      <p:sp>
        <p:nvSpPr>
          <p:cNvPr id="25" name="Text 23"/>
          <p:cNvSpPr txBox="1"/>
          <p:nvPr/>
        </p:nvSpPr>
        <p:spPr>
          <a:xfrm>
            <a:off x="7296912" y="3392424"/>
            <a:ext cx="1819656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spc="150" kern="0" dirty="0">
                <a:solidFill>
                  <a:srgbClr val="0091A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DATA QUALITY</a:t>
            </a:r>
            <a:endParaRPr lang="en-US" sz="900" dirty="0"/>
          </a:p>
        </p:txBody>
      </p:sp>
      <p:sp>
        <p:nvSpPr>
          <p:cNvPr id="26" name="Text 24"/>
          <p:cNvSpPr txBox="1"/>
          <p:nvPr/>
        </p:nvSpPr>
        <p:spPr>
          <a:xfrm>
            <a:off x="7296912" y="3639312"/>
            <a:ext cx="1819656" cy="6675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2228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 of 5 — 2.1% estimated</a:t>
            </a:r>
            <a:endParaRPr lang="en-US" sz="1150" dirty="0"/>
          </a:p>
        </p:txBody>
      </p:sp>
      <p:sp>
        <p:nvSpPr>
          <p:cNvPr id="27" name="Shape 25"/>
          <p:cNvSpPr/>
          <p:nvPr/>
        </p:nvSpPr>
        <p:spPr>
          <a:xfrm>
            <a:off x="9464040" y="3273552"/>
            <a:ext cx="2148840" cy="1170432"/>
          </a:xfrm>
          <a:prstGeom prst="roundRect">
            <a:avLst>
              <a:gd name="adj" fmla="val 4688"/>
            </a:avLst>
          </a:prstGeom>
          <a:solidFill>
            <a:srgbClr val="E9F3F5"/>
          </a:solidFill>
          <a:ln w="9525">
            <a:solidFill>
              <a:srgbClr val="E9F3F5"/>
            </a:solidFill>
            <a:prstDash val="solid"/>
          </a:ln>
        </p:spPr>
      </p:sp>
      <p:sp>
        <p:nvSpPr>
          <p:cNvPr id="28" name="Text 26"/>
          <p:cNvSpPr txBox="1"/>
          <p:nvPr/>
        </p:nvSpPr>
        <p:spPr>
          <a:xfrm>
            <a:off x="9628632" y="3392424"/>
            <a:ext cx="1819656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spc="150" kern="0" dirty="0">
                <a:solidFill>
                  <a:srgbClr val="0091A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ASSURANCE</a:t>
            </a:r>
            <a:endParaRPr lang="en-US" sz="900" dirty="0"/>
          </a:p>
        </p:txBody>
      </p:sp>
      <p:sp>
        <p:nvSpPr>
          <p:cNvPr id="29" name="Text 27"/>
          <p:cNvSpPr txBox="1"/>
          <p:nvPr/>
        </p:nvSpPr>
        <p:spPr>
          <a:xfrm>
            <a:off x="9628632" y="3639312"/>
            <a:ext cx="1819656" cy="6675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2228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Internally reviewed, not assured</a:t>
            </a:r>
            <a:endParaRPr lang="en-US" sz="1150" dirty="0"/>
          </a:p>
        </p:txBody>
      </p:sp>
      <p:sp>
        <p:nvSpPr>
          <p:cNvPr id="30" name="Shape 28"/>
          <p:cNvSpPr/>
          <p:nvPr/>
        </p:nvSpPr>
        <p:spPr>
          <a:xfrm>
            <a:off x="4800600" y="4581144"/>
            <a:ext cx="2148840" cy="1170432"/>
          </a:xfrm>
          <a:prstGeom prst="roundRect">
            <a:avLst>
              <a:gd name="adj" fmla="val 4688"/>
            </a:avLst>
          </a:prstGeom>
          <a:solidFill>
            <a:srgbClr val="E9F3F5"/>
          </a:solidFill>
          <a:ln w="9525">
            <a:solidFill>
              <a:srgbClr val="E9F3F5"/>
            </a:solidFill>
            <a:prstDash val="solid"/>
          </a:ln>
        </p:spPr>
      </p:sp>
      <p:sp>
        <p:nvSpPr>
          <p:cNvPr id="31" name="Text 29"/>
          <p:cNvSpPr txBox="1"/>
          <p:nvPr/>
        </p:nvSpPr>
        <p:spPr>
          <a:xfrm>
            <a:off x="4965192" y="4700016"/>
            <a:ext cx="1819656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spc="150" kern="0" dirty="0">
                <a:solidFill>
                  <a:srgbClr val="0091A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TARGET</a:t>
            </a:r>
            <a:endParaRPr lang="en-US" sz="900" dirty="0"/>
          </a:p>
        </p:txBody>
      </p:sp>
      <p:sp>
        <p:nvSpPr>
          <p:cNvPr id="32" name="Text 30"/>
          <p:cNvSpPr txBox="1"/>
          <p:nvPr/>
        </p:nvSpPr>
        <p:spPr>
          <a:xfrm>
            <a:off x="4965192" y="4946904"/>
            <a:ext cx="1819656" cy="6675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2228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Down 40% by FY2030 vs FY2024</a:t>
            </a:r>
            <a:endParaRPr lang="en-US" sz="1150" dirty="0"/>
          </a:p>
        </p:txBody>
      </p:sp>
      <p:sp>
        <p:nvSpPr>
          <p:cNvPr id="33" name="Shape 31"/>
          <p:cNvSpPr/>
          <p:nvPr/>
        </p:nvSpPr>
        <p:spPr>
          <a:xfrm>
            <a:off x="7132320" y="4581144"/>
            <a:ext cx="2148840" cy="1170432"/>
          </a:xfrm>
          <a:prstGeom prst="roundRect">
            <a:avLst>
              <a:gd name="adj" fmla="val 4688"/>
            </a:avLst>
          </a:prstGeom>
          <a:solidFill>
            <a:srgbClr val="E9F3F5"/>
          </a:solidFill>
          <a:ln w="9525">
            <a:solidFill>
              <a:srgbClr val="E9F3F5"/>
            </a:solidFill>
            <a:prstDash val="solid"/>
          </a:ln>
        </p:spPr>
      </p:sp>
      <p:sp>
        <p:nvSpPr>
          <p:cNvPr id="34" name="Text 32"/>
          <p:cNvSpPr txBox="1"/>
          <p:nvPr/>
        </p:nvSpPr>
        <p:spPr>
          <a:xfrm>
            <a:off x="7296912" y="4700016"/>
            <a:ext cx="1819656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spc="150" kern="0" dirty="0">
                <a:solidFill>
                  <a:srgbClr val="0091A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EVIDENCE</a:t>
            </a:r>
            <a:endParaRPr lang="en-US" sz="900" dirty="0"/>
          </a:p>
        </p:txBody>
      </p:sp>
      <p:sp>
        <p:nvSpPr>
          <p:cNvPr id="35" name="Text 33"/>
          <p:cNvSpPr txBox="1"/>
          <p:nvPr/>
        </p:nvSpPr>
        <p:spPr>
          <a:xfrm>
            <a:off x="7296912" y="4946904"/>
            <a:ext cx="1819656" cy="6675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2228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EV-0412, EV-0418, EV-0431</a:t>
            </a:r>
            <a:endParaRPr lang="en-US" sz="1150" dirty="0"/>
          </a:p>
        </p:txBody>
      </p:sp>
      <p:sp>
        <p:nvSpPr>
          <p:cNvPr id="36" name="Shape 34"/>
          <p:cNvSpPr/>
          <p:nvPr/>
        </p:nvSpPr>
        <p:spPr>
          <a:xfrm>
            <a:off x="9464040" y="4581144"/>
            <a:ext cx="2148840" cy="1170432"/>
          </a:xfrm>
          <a:prstGeom prst="roundRect">
            <a:avLst>
              <a:gd name="adj" fmla="val 4688"/>
            </a:avLst>
          </a:prstGeom>
          <a:solidFill>
            <a:srgbClr val="E9F3F5"/>
          </a:solidFill>
          <a:ln w="9525">
            <a:solidFill>
              <a:srgbClr val="E9F3F5"/>
            </a:solidFill>
            <a:prstDash val="solid"/>
          </a:ln>
        </p:spPr>
      </p:sp>
      <p:sp>
        <p:nvSpPr>
          <p:cNvPr id="37" name="Text 35"/>
          <p:cNvSpPr txBox="1"/>
          <p:nvPr/>
        </p:nvSpPr>
        <p:spPr>
          <a:xfrm>
            <a:off x="9628632" y="4700016"/>
            <a:ext cx="1819656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spc="150" kern="0" dirty="0">
                <a:solidFill>
                  <a:srgbClr val="0091A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FRAMEWORK</a:t>
            </a:r>
            <a:endParaRPr lang="en-US" sz="900" dirty="0"/>
          </a:p>
        </p:txBody>
      </p:sp>
      <p:sp>
        <p:nvSpPr>
          <p:cNvPr id="38" name="Text 36"/>
          <p:cNvSpPr txBox="1"/>
          <p:nvPr/>
        </p:nvSpPr>
        <p:spPr>
          <a:xfrm>
            <a:off x="9628632" y="4946904"/>
            <a:ext cx="1819656" cy="6675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2228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JSE Core, IFRS S2, GRI 305-1</a:t>
            </a:r>
            <a:endParaRPr lang="en-US" sz="115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310896"/>
            <a:ext cx="110642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200" kern="0" dirty="0">
                <a:solidFill>
                  <a:srgbClr val="0091A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QUANTITATIVE REPORTING</a:t>
            </a:r>
            <a:endParaRPr lang="en-US" sz="1100" dirty="0"/>
          </a:p>
        </p:txBody>
      </p:sp>
      <p:sp>
        <p:nvSpPr>
          <p:cNvPr id="3" name="Text 1"/>
          <p:cNvSpPr txBox="1"/>
          <p:nvPr/>
        </p:nvSpPr>
        <p:spPr>
          <a:xfrm>
            <a:off x="548640" y="566928"/>
            <a:ext cx="11064240" cy="7132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900" b="1" dirty="0">
                <a:solidFill>
                  <a:srgbClr val="00647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Every metric renders against its trajectory</a:t>
            </a:r>
            <a:endParaRPr lang="en-US" sz="2900" dirty="0"/>
          </a:p>
        </p:txBody>
      </p:sp>
      <p:sp>
        <p:nvSpPr>
          <p:cNvPr id="4" name="Text 2"/>
          <p:cNvSpPr txBox="1"/>
          <p:nvPr/>
        </p:nvSpPr>
        <p:spPr>
          <a:xfrm>
            <a:off x="548640" y="1371600"/>
            <a:ext cx="1106424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5F6B6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Actual and projected emissions against the pathway required to hit the stated target. Illustrative shape, generated per client from the spine.</a:t>
            </a:r>
            <a:endParaRPr lang="en-US" sz="1400" dirty="0"/>
          </a:p>
        </p:txBody>
      </p:sp>
      <p:graphicFrame>
        <p:nvGraphicFramePr>
          <p:cNvPr id="5" name="Chart 0" descr=""/>
          <p:cNvGraphicFramePr/>
          <p:nvPr/>
        </p:nvGraphicFramePr>
        <p:xfrm>
          <a:off x="548640" y="2011680"/>
          <a:ext cx="7223760" cy="3749040"/>
        </p:xfrm>
        <a:graphic xmlns:a="http://schemas.openxmlformats.org/drawingml/2006/main">
          <a:graphicData uri="http://schemas.openxmlformats.org/drawingml/2006/chart">
            <c:chart xmlns:c="http://schemas.openxmlformats.org/drawingml/2006/chart" r:id="rId1"/>
          </a:graphicData>
        </a:graphic>
      </p:graphicFrame>
      <p:sp>
        <p:nvSpPr>
          <p:cNvPr id="6" name="Shape 3"/>
          <p:cNvSpPr/>
          <p:nvPr/>
        </p:nvSpPr>
        <p:spPr>
          <a:xfrm>
            <a:off x="8001000" y="2011680"/>
            <a:ext cx="3611880" cy="3749040"/>
          </a:xfrm>
          <a:prstGeom prst="roundRect">
            <a:avLst>
              <a:gd name="adj" fmla="val 1519"/>
            </a:avLst>
          </a:prstGeom>
          <a:solidFill>
            <a:srgbClr val="E9F3F5"/>
          </a:solidFill>
          <a:ln w="9525">
            <a:solidFill>
              <a:srgbClr val="E9F3F5"/>
            </a:solidFill>
            <a:prstDash val="solid"/>
          </a:ln>
        </p:spPr>
      </p:sp>
      <p:sp>
        <p:nvSpPr>
          <p:cNvPr id="7" name="Text 4"/>
          <p:cNvSpPr txBox="1"/>
          <p:nvPr/>
        </p:nvSpPr>
        <p:spPr>
          <a:xfrm>
            <a:off x="8275320" y="2212848"/>
            <a:ext cx="30632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00647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What renders alongside</a:t>
            </a:r>
            <a:endParaRPr lang="en-US" sz="1600" dirty="0"/>
          </a:p>
        </p:txBody>
      </p:sp>
      <p:sp>
        <p:nvSpPr>
          <p:cNvPr id="8" name="Text 5"/>
          <p:cNvSpPr txBox="1"/>
          <p:nvPr/>
        </p:nvSpPr>
        <p:spPr>
          <a:xfrm>
            <a:off x="8275320" y="2606040"/>
            <a:ext cx="3063240" cy="23774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200" dirty="0">
                <a:solidFill>
                  <a:srgbClr val="2228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RAG status against the pathway</a:t>
            </a:r>
            <a:endParaRPr lang="en-US" sz="120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200" dirty="0">
                <a:solidFill>
                  <a:srgbClr val="2228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Data quality of each plotted point</a:t>
            </a:r>
            <a:endParaRPr lang="en-US" sz="120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200" dirty="0">
                <a:solidFill>
                  <a:srgbClr val="2228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Restatement footnotes where a prior figure changed</a:t>
            </a:r>
            <a:endParaRPr lang="en-US" sz="120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200" dirty="0">
                <a:solidFill>
                  <a:srgbClr val="2228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narrative block explaining the variance</a:t>
            </a:r>
            <a:endParaRPr lang="en-US" sz="120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200" dirty="0">
                <a:solidFill>
                  <a:srgbClr val="2228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Linked reduction levers and abatement potential</a:t>
            </a:r>
            <a:endParaRPr lang="en-US" sz="1200" dirty="0"/>
          </a:p>
        </p:txBody>
      </p:sp>
      <p:sp>
        <p:nvSpPr>
          <p:cNvPr id="9" name="Text 6"/>
          <p:cNvSpPr txBox="1"/>
          <p:nvPr/>
        </p:nvSpPr>
        <p:spPr>
          <a:xfrm>
            <a:off x="8275320" y="5074920"/>
            <a:ext cx="306324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i="1" dirty="0">
                <a:solidFill>
                  <a:srgbClr val="5F6B6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 chart renders without axis units and a source note naming the metric ID.</a:t>
            </a:r>
            <a:endParaRPr lang="en-US" sz="115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310896"/>
            <a:ext cx="110642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200" kern="0" dirty="0">
                <a:solidFill>
                  <a:srgbClr val="0091A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QUANTITATIVE REPORTING</a:t>
            </a:r>
            <a:endParaRPr lang="en-US" sz="1100" dirty="0"/>
          </a:p>
        </p:txBody>
      </p:sp>
      <p:sp>
        <p:nvSpPr>
          <p:cNvPr id="3" name="Text 1"/>
          <p:cNvSpPr txBox="1"/>
          <p:nvPr/>
        </p:nvSpPr>
        <p:spPr>
          <a:xfrm>
            <a:off x="548640" y="566928"/>
            <a:ext cx="11064240" cy="7132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900" b="1" dirty="0">
                <a:solidFill>
                  <a:srgbClr val="00647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Confidence is published, not assumed</a:t>
            </a:r>
            <a:endParaRPr lang="en-US" sz="2900" dirty="0"/>
          </a:p>
        </p:txBody>
      </p:sp>
      <p:sp>
        <p:nvSpPr>
          <p:cNvPr id="4" name="Text 2"/>
          <p:cNvSpPr txBox="1"/>
          <p:nvPr/>
        </p:nvSpPr>
        <p:spPr>
          <a:xfrm>
            <a:off x="548640" y="1371600"/>
            <a:ext cx="1106424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5F6B6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spread of data quality across the metric set, and readiness for limited assurance by topic. Both appear on the dashboard.</a:t>
            </a:r>
            <a:endParaRPr lang="en-US" sz="1400" dirty="0"/>
          </a:p>
        </p:txBody>
      </p:sp>
      <p:sp>
        <p:nvSpPr>
          <p:cNvPr id="5" name="Text 3"/>
          <p:cNvSpPr txBox="1"/>
          <p:nvPr/>
        </p:nvSpPr>
        <p:spPr>
          <a:xfrm>
            <a:off x="548640" y="1965960"/>
            <a:ext cx="53949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00647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Metrics by data quality score</a:t>
            </a:r>
            <a:endParaRPr lang="en-US" sz="1500" dirty="0"/>
          </a:p>
        </p:txBody>
      </p:sp>
      <p:graphicFrame>
        <p:nvGraphicFramePr>
          <p:cNvPr id="6" name="Chart 0" descr=""/>
          <p:cNvGraphicFramePr/>
          <p:nvPr/>
        </p:nvGraphicFramePr>
        <p:xfrm>
          <a:off x="548640" y="2331720"/>
          <a:ext cx="5394960" cy="3108960"/>
        </p:xfrm>
        <a:graphic xmlns:a="http://schemas.openxmlformats.org/drawingml/2006/main">
          <a:graphicData uri="http://schemas.openxmlformats.org/drawingml/2006/chart">
            <c:chart xmlns:c="http://schemas.openxmlformats.org/drawingml/2006/chart" r:id="rId1"/>
          </a:graphicData>
        </a:graphic>
      </p:graphicFrame>
      <p:sp>
        <p:nvSpPr>
          <p:cNvPr id="7" name="Text 4"/>
          <p:cNvSpPr txBox="1"/>
          <p:nvPr/>
        </p:nvSpPr>
        <p:spPr>
          <a:xfrm>
            <a:off x="548640" y="5532120"/>
            <a:ext cx="53949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0091A8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Weighted data quality index: 3.6 of 5</a:t>
            </a:r>
            <a:endParaRPr lang="en-US" sz="1500" dirty="0"/>
          </a:p>
        </p:txBody>
      </p:sp>
      <p:sp>
        <p:nvSpPr>
          <p:cNvPr id="8" name="Text 5"/>
          <p:cNvSpPr txBox="1"/>
          <p:nvPr/>
        </p:nvSpPr>
        <p:spPr>
          <a:xfrm>
            <a:off x="6400800" y="1965960"/>
            <a:ext cx="52120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00647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Assurance readiness by topic</a:t>
            </a:r>
            <a:endParaRPr lang="en-US" sz="1500" dirty="0"/>
          </a:p>
        </p:txBody>
      </p:sp>
      <p:graphicFrame>
        <p:nvGraphicFramePr>
          <p:cNvPr id="9" name="Chart 1" descr=""/>
          <p:cNvGraphicFramePr/>
          <p:nvPr/>
        </p:nvGraphicFramePr>
        <p:xfrm>
          <a:off x="6400800" y="2331720"/>
          <a:ext cx="5212080" cy="3108960"/>
        </p:xfrm>
        <a:graphic xmlns:a="http://schemas.openxmlformats.org/drawingml/2006/main">
          <a:graphicData uri="http://schemas.openxmlformats.org/drawingml/2006/chart">
            <c:chart xmlns:c="http://schemas.openxmlformats.org/drawingml/2006/chart" r:id="rId2"/>
          </a:graphicData>
        </a:graphic>
      </p:graphicFrame>
      <p:sp>
        <p:nvSpPr>
          <p:cNvPr id="10" name="Text 6"/>
          <p:cNvSpPr txBox="1"/>
          <p:nvPr/>
        </p:nvSpPr>
        <p:spPr>
          <a:xfrm>
            <a:off x="6400800" y="5532120"/>
            <a:ext cx="52120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i="1" dirty="0">
                <a:solidFill>
                  <a:srgbClr val="5F6B6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Rated per topic: ready for limited assurance, remediation required, or not assurable.</a:t>
            </a:r>
            <a:endParaRPr lang="en-US" sz="115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310896"/>
            <a:ext cx="110642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200" kern="0" dirty="0">
                <a:solidFill>
                  <a:srgbClr val="0091A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REFERENCE</a:t>
            </a:r>
            <a:endParaRPr lang="en-US" sz="1100" dirty="0"/>
          </a:p>
        </p:txBody>
      </p:sp>
      <p:sp>
        <p:nvSpPr>
          <p:cNvPr id="3" name="Text 1"/>
          <p:cNvSpPr txBox="1"/>
          <p:nvPr/>
        </p:nvSpPr>
        <p:spPr>
          <a:xfrm>
            <a:off x="548640" y="566928"/>
            <a:ext cx="11064240" cy="7132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900" b="1" dirty="0">
                <a:solidFill>
                  <a:srgbClr val="00647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The two legends every reader needs</a:t>
            </a:r>
            <a:endParaRPr lang="en-US" sz="2900" dirty="0"/>
          </a:p>
        </p:txBody>
      </p:sp>
      <p:sp>
        <p:nvSpPr>
          <p:cNvPr id="4" name="Text 2"/>
          <p:cNvSpPr txBox="1"/>
          <p:nvPr/>
        </p:nvSpPr>
        <p:spPr>
          <a:xfrm>
            <a:off x="548640" y="1600200"/>
            <a:ext cx="53035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00647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Data quality scale</a:t>
            </a:r>
            <a:endParaRPr lang="en-US" sz="1800" dirty="0"/>
          </a:p>
        </p:txBody>
      </p:sp>
      <p:graphicFrame>
        <p:nvGraphicFramePr>
          <p:cNvPr id="10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548640" y="2011680"/>
          <a:ext cx="5486400" cy="914400"/>
        </p:xfrm>
        <a:graphic>
          <a:graphicData uri="http://schemas.openxmlformats.org/drawingml/2006/table">
            <a:tbl>
              <a:tblPr/>
              <a:tblGrid>
                <a:gridCol w="822960"/>
                <a:gridCol w="4663440"/>
              </a:tblGrid>
              <a:tr h="50292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Score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5DE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E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E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E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647A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Definition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5DE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E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E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E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647A"/>
                    </a:solidFill>
                  </a:tcPr>
                </a:tc>
              </a:tr>
              <a:tr h="50292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50" dirty="0">
                          <a:solidFill>
                            <a:srgbClr val="22282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5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5DE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E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E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E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50" dirty="0">
                          <a:solidFill>
                            <a:srgbClr val="22282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Metered or system-generated, independently verifiable, complete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5DE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E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E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E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50292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50" dirty="0">
                          <a:solidFill>
                            <a:srgbClr val="22282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4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5DE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E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E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E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50" dirty="0">
                          <a:solidFill>
                            <a:srgbClr val="22282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System-generated, minor manual adjustment under 5%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5DE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E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E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E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50292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50" dirty="0">
                          <a:solidFill>
                            <a:srgbClr val="22282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3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5DE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E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E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E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50" dirty="0">
                          <a:solidFill>
                            <a:srgbClr val="22282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Mix of measured and estimated; method documented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5DE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E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E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E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50292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50" dirty="0">
                          <a:solidFill>
                            <a:srgbClr val="22282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2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5DE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E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E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E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50" dirty="0">
                          <a:solidFill>
                            <a:srgbClr val="22282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Primarily estimated or extrapolated from a proxy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5DE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E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E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E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50292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50" dirty="0">
                          <a:solidFill>
                            <a:srgbClr val="22282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5DE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E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E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E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50" dirty="0">
                          <a:solidFill>
                            <a:srgbClr val="22282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Single-point estimate or industry average; indicative only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5DE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E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E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E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</a:tbl>
          </a:graphicData>
        </a:graphic>
      </p:graphicFrame>
      <p:sp>
        <p:nvSpPr>
          <p:cNvPr id="6" name="Text 3"/>
          <p:cNvSpPr txBox="1"/>
          <p:nvPr/>
        </p:nvSpPr>
        <p:spPr>
          <a:xfrm>
            <a:off x="548640" y="5212080"/>
            <a:ext cx="54864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i="1" dirty="0">
                <a:solidFill>
                  <a:srgbClr val="5F6B6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weighted index rolls these up to one report-level figure.</a:t>
            </a:r>
            <a:endParaRPr lang="en-US" sz="1200" dirty="0"/>
          </a:p>
        </p:txBody>
      </p:sp>
      <p:sp>
        <p:nvSpPr>
          <p:cNvPr id="7" name="Text 4"/>
          <p:cNvSpPr txBox="1"/>
          <p:nvPr/>
        </p:nvSpPr>
        <p:spPr>
          <a:xfrm>
            <a:off x="6492240" y="1600200"/>
            <a:ext cx="51206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00647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RAG logic</a:t>
            </a:r>
            <a:endParaRPr lang="en-US" sz="1800" dirty="0"/>
          </a:p>
        </p:txBody>
      </p:sp>
      <p:sp>
        <p:nvSpPr>
          <p:cNvPr id="8" name="Shape 5"/>
          <p:cNvSpPr/>
          <p:nvPr/>
        </p:nvSpPr>
        <p:spPr>
          <a:xfrm>
            <a:off x="6492240" y="2057400"/>
            <a:ext cx="5120640" cy="731520"/>
          </a:xfrm>
          <a:prstGeom prst="roundRect">
            <a:avLst>
              <a:gd name="adj" fmla="val 7500"/>
            </a:avLst>
          </a:prstGeom>
          <a:solidFill>
            <a:srgbClr val="F3F6F7"/>
          </a:solidFill>
          <a:ln w="9525">
            <a:solidFill>
              <a:srgbClr val="DCE4E6"/>
            </a:solidFill>
            <a:prstDash val="solid"/>
          </a:ln>
        </p:spPr>
      </p:sp>
      <p:sp>
        <p:nvSpPr>
          <p:cNvPr id="9" name="Shape 6"/>
          <p:cNvSpPr/>
          <p:nvPr/>
        </p:nvSpPr>
        <p:spPr>
          <a:xfrm>
            <a:off x="6720840" y="2240280"/>
            <a:ext cx="365760" cy="365760"/>
          </a:xfrm>
          <a:prstGeom prst="ellipse">
            <a:avLst/>
          </a:prstGeom>
          <a:solidFill>
            <a:srgbClr val="00875A"/>
          </a:solidFill>
          <a:ln/>
        </p:spPr>
      </p:sp>
      <p:sp>
        <p:nvSpPr>
          <p:cNvPr id="10" name="Text 7"/>
          <p:cNvSpPr txBox="1"/>
          <p:nvPr/>
        </p:nvSpPr>
        <p:spPr>
          <a:xfrm>
            <a:off x="7223760" y="2130552"/>
            <a:ext cx="109728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00647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Green</a:t>
            </a:r>
            <a:endParaRPr lang="en-US" sz="1400" dirty="0"/>
          </a:p>
        </p:txBody>
      </p:sp>
      <p:sp>
        <p:nvSpPr>
          <p:cNvPr id="11" name="Text 8"/>
          <p:cNvSpPr txBox="1"/>
          <p:nvPr/>
        </p:nvSpPr>
        <p:spPr>
          <a:xfrm>
            <a:off x="7223760" y="2404872"/>
            <a:ext cx="42062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5F6B6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On or ahead of trajectory, data quality 4 or 5</a:t>
            </a:r>
            <a:endParaRPr lang="en-US" sz="1150" dirty="0"/>
          </a:p>
        </p:txBody>
      </p:sp>
      <p:sp>
        <p:nvSpPr>
          <p:cNvPr id="12" name="Shape 9"/>
          <p:cNvSpPr/>
          <p:nvPr/>
        </p:nvSpPr>
        <p:spPr>
          <a:xfrm>
            <a:off x="6492240" y="2926080"/>
            <a:ext cx="5120640" cy="731520"/>
          </a:xfrm>
          <a:prstGeom prst="roundRect">
            <a:avLst>
              <a:gd name="adj" fmla="val 7500"/>
            </a:avLst>
          </a:prstGeom>
          <a:solidFill>
            <a:srgbClr val="F3F6F7"/>
          </a:solidFill>
          <a:ln w="9525">
            <a:solidFill>
              <a:srgbClr val="DCE4E6"/>
            </a:solidFill>
            <a:prstDash val="solid"/>
          </a:ln>
        </p:spPr>
      </p:sp>
      <p:sp>
        <p:nvSpPr>
          <p:cNvPr id="13" name="Shape 10"/>
          <p:cNvSpPr/>
          <p:nvPr/>
        </p:nvSpPr>
        <p:spPr>
          <a:xfrm>
            <a:off x="6720840" y="3108960"/>
            <a:ext cx="365760" cy="365760"/>
          </a:xfrm>
          <a:prstGeom prst="ellipse">
            <a:avLst/>
          </a:prstGeom>
          <a:solidFill>
            <a:srgbClr val="D08C2E"/>
          </a:solidFill>
          <a:ln/>
        </p:spPr>
      </p:sp>
      <p:sp>
        <p:nvSpPr>
          <p:cNvPr id="14" name="Text 11"/>
          <p:cNvSpPr txBox="1"/>
          <p:nvPr/>
        </p:nvSpPr>
        <p:spPr>
          <a:xfrm>
            <a:off x="7223760" y="2999232"/>
            <a:ext cx="109728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00647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Amber</a:t>
            </a:r>
            <a:endParaRPr lang="en-US" sz="1400" dirty="0"/>
          </a:p>
        </p:txBody>
      </p:sp>
      <p:sp>
        <p:nvSpPr>
          <p:cNvPr id="15" name="Text 12"/>
          <p:cNvSpPr txBox="1"/>
          <p:nvPr/>
        </p:nvSpPr>
        <p:spPr>
          <a:xfrm>
            <a:off x="7223760" y="3273552"/>
            <a:ext cx="42062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5F6B6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Within 10% of trajectory, or quality 3 and below</a:t>
            </a:r>
            <a:endParaRPr lang="en-US" sz="1150" dirty="0"/>
          </a:p>
        </p:txBody>
      </p:sp>
      <p:sp>
        <p:nvSpPr>
          <p:cNvPr id="16" name="Shape 13"/>
          <p:cNvSpPr/>
          <p:nvPr/>
        </p:nvSpPr>
        <p:spPr>
          <a:xfrm>
            <a:off x="6492240" y="3794760"/>
            <a:ext cx="5120640" cy="731520"/>
          </a:xfrm>
          <a:prstGeom prst="roundRect">
            <a:avLst>
              <a:gd name="adj" fmla="val 7500"/>
            </a:avLst>
          </a:prstGeom>
          <a:solidFill>
            <a:srgbClr val="F3F6F7"/>
          </a:solidFill>
          <a:ln w="9525">
            <a:solidFill>
              <a:srgbClr val="DCE4E6"/>
            </a:solidFill>
            <a:prstDash val="solid"/>
          </a:ln>
        </p:spPr>
      </p:sp>
      <p:sp>
        <p:nvSpPr>
          <p:cNvPr id="17" name="Shape 14"/>
          <p:cNvSpPr/>
          <p:nvPr/>
        </p:nvSpPr>
        <p:spPr>
          <a:xfrm>
            <a:off x="6720840" y="3977640"/>
            <a:ext cx="365760" cy="365760"/>
          </a:xfrm>
          <a:prstGeom prst="ellipse">
            <a:avLst/>
          </a:prstGeom>
          <a:solidFill>
            <a:srgbClr val="B03A2E"/>
          </a:solidFill>
          <a:ln/>
        </p:spPr>
      </p:sp>
      <p:sp>
        <p:nvSpPr>
          <p:cNvPr id="18" name="Text 15"/>
          <p:cNvSpPr txBox="1"/>
          <p:nvPr/>
        </p:nvSpPr>
        <p:spPr>
          <a:xfrm>
            <a:off x="7223760" y="3867912"/>
            <a:ext cx="109728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00647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Red</a:t>
            </a:r>
            <a:endParaRPr lang="en-US" sz="1400" dirty="0"/>
          </a:p>
        </p:txBody>
      </p:sp>
      <p:sp>
        <p:nvSpPr>
          <p:cNvPr id="19" name="Text 16"/>
          <p:cNvSpPr txBox="1"/>
          <p:nvPr/>
        </p:nvSpPr>
        <p:spPr>
          <a:xfrm>
            <a:off x="7223760" y="4142232"/>
            <a:ext cx="42062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5F6B6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Off trajectory by more than 10%, or no baseline</a:t>
            </a:r>
            <a:endParaRPr lang="en-US" sz="1150" dirty="0"/>
          </a:p>
        </p:txBody>
      </p:sp>
      <p:sp>
        <p:nvSpPr>
          <p:cNvPr id="20" name="Shape 17"/>
          <p:cNvSpPr/>
          <p:nvPr/>
        </p:nvSpPr>
        <p:spPr>
          <a:xfrm>
            <a:off x="6492240" y="4663440"/>
            <a:ext cx="5120640" cy="731520"/>
          </a:xfrm>
          <a:prstGeom prst="roundRect">
            <a:avLst>
              <a:gd name="adj" fmla="val 7500"/>
            </a:avLst>
          </a:prstGeom>
          <a:solidFill>
            <a:srgbClr val="F3F6F7"/>
          </a:solidFill>
          <a:ln w="9525">
            <a:solidFill>
              <a:srgbClr val="DCE4E6"/>
            </a:solidFill>
            <a:prstDash val="solid"/>
          </a:ln>
        </p:spPr>
      </p:sp>
      <p:sp>
        <p:nvSpPr>
          <p:cNvPr id="21" name="Shape 18"/>
          <p:cNvSpPr/>
          <p:nvPr/>
        </p:nvSpPr>
        <p:spPr>
          <a:xfrm>
            <a:off x="6720840" y="4846320"/>
            <a:ext cx="365760" cy="365760"/>
          </a:xfrm>
          <a:prstGeom prst="ellipse">
            <a:avLst/>
          </a:prstGeom>
          <a:solidFill>
            <a:srgbClr val="8A9296"/>
          </a:solidFill>
          <a:ln/>
        </p:spPr>
      </p:sp>
      <p:sp>
        <p:nvSpPr>
          <p:cNvPr id="22" name="Text 19"/>
          <p:cNvSpPr txBox="1"/>
          <p:nvPr/>
        </p:nvSpPr>
        <p:spPr>
          <a:xfrm>
            <a:off x="7223760" y="4736592"/>
            <a:ext cx="109728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00647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Grey</a:t>
            </a:r>
            <a:endParaRPr lang="en-US" sz="1400" dirty="0"/>
          </a:p>
        </p:txBody>
      </p:sp>
      <p:sp>
        <p:nvSpPr>
          <p:cNvPr id="23" name="Text 20"/>
          <p:cNvSpPr txBox="1"/>
          <p:nvPr/>
        </p:nvSpPr>
        <p:spPr>
          <a:xfrm>
            <a:off x="7223760" y="5010912"/>
            <a:ext cx="42062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5F6B6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Not yet measured — triggers an omission and a gap entry</a:t>
            </a:r>
            <a:endParaRPr lang="en-US" sz="115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310896"/>
            <a:ext cx="110642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200" kern="0" dirty="0">
                <a:solidFill>
                  <a:srgbClr val="0091A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QUALITATIVE REPORTING</a:t>
            </a:r>
            <a:endParaRPr lang="en-US" sz="1100" dirty="0"/>
          </a:p>
        </p:txBody>
      </p:sp>
      <p:sp>
        <p:nvSpPr>
          <p:cNvPr id="3" name="Text 1"/>
          <p:cNvSpPr txBox="1"/>
          <p:nvPr/>
        </p:nvSpPr>
        <p:spPr>
          <a:xfrm>
            <a:off x="548640" y="566928"/>
            <a:ext cx="11064240" cy="7132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900" b="1" dirty="0">
                <a:solidFill>
                  <a:srgbClr val="00647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Four kinds of claim, four kinds of proof</a:t>
            </a:r>
            <a:endParaRPr lang="en-US" sz="2900" dirty="0"/>
          </a:p>
        </p:txBody>
      </p:sp>
      <p:sp>
        <p:nvSpPr>
          <p:cNvPr id="4" name="Text 2"/>
          <p:cNvSpPr txBox="1"/>
          <p:nvPr/>
        </p:nvSpPr>
        <p:spPr>
          <a:xfrm>
            <a:off x="548640" y="1371600"/>
            <a:ext cx="1106424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5F6B6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Every narrative sentence is classified before it renders. A sentence that cannot be classified does not go into the document.</a:t>
            </a:r>
            <a:endParaRPr lang="en-US" sz="1400" dirty="0"/>
          </a:p>
        </p:txBody>
      </p:sp>
      <p:sp>
        <p:nvSpPr>
          <p:cNvPr id="5" name="Shape 3"/>
          <p:cNvSpPr/>
          <p:nvPr/>
        </p:nvSpPr>
        <p:spPr>
          <a:xfrm>
            <a:off x="548640" y="1965960"/>
            <a:ext cx="1280160" cy="822960"/>
          </a:xfrm>
          <a:prstGeom prst="roundRect">
            <a:avLst>
              <a:gd name="adj" fmla="val 6667"/>
            </a:avLst>
          </a:prstGeom>
          <a:solidFill>
            <a:srgbClr val="00647A"/>
          </a:solidFill>
          <a:ln w="9525">
            <a:solidFill>
              <a:srgbClr val="00647A"/>
            </a:solidFill>
            <a:prstDash val="solid"/>
          </a:ln>
        </p:spPr>
      </p:sp>
      <p:sp>
        <p:nvSpPr>
          <p:cNvPr id="6" name="Text 4"/>
          <p:cNvSpPr txBox="1"/>
          <p:nvPr/>
        </p:nvSpPr>
        <p:spPr>
          <a:xfrm>
            <a:off x="548640" y="1965960"/>
            <a:ext cx="128016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6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A</a:t>
            </a:r>
            <a:endParaRPr lang="en-US" sz="2600" dirty="0"/>
          </a:p>
        </p:txBody>
      </p:sp>
      <p:sp>
        <p:nvSpPr>
          <p:cNvPr id="7" name="Shape 5"/>
          <p:cNvSpPr/>
          <p:nvPr/>
        </p:nvSpPr>
        <p:spPr>
          <a:xfrm>
            <a:off x="1965960" y="1965960"/>
            <a:ext cx="2834640" cy="822960"/>
          </a:xfrm>
          <a:prstGeom prst="roundRect">
            <a:avLst>
              <a:gd name="adj" fmla="val 6667"/>
            </a:avLst>
          </a:prstGeom>
          <a:solidFill>
            <a:srgbClr val="E9F3F5"/>
          </a:solidFill>
          <a:ln w="9525">
            <a:solidFill>
              <a:srgbClr val="E9F3F5"/>
            </a:solidFill>
            <a:prstDash val="solid"/>
          </a:ln>
        </p:spPr>
      </p:sp>
      <p:sp>
        <p:nvSpPr>
          <p:cNvPr id="8" name="Text 6"/>
          <p:cNvSpPr txBox="1"/>
          <p:nvPr/>
        </p:nvSpPr>
        <p:spPr>
          <a:xfrm>
            <a:off x="2148840" y="2075688"/>
            <a:ext cx="256032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00647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Factual</a:t>
            </a:r>
            <a:endParaRPr lang="en-US" sz="1500" dirty="0"/>
          </a:p>
        </p:txBody>
      </p:sp>
      <p:sp>
        <p:nvSpPr>
          <p:cNvPr id="9" name="Text 7"/>
          <p:cNvSpPr txBox="1"/>
          <p:nvPr/>
        </p:nvSpPr>
        <p:spPr>
          <a:xfrm>
            <a:off x="2148840" y="2386584"/>
            <a:ext cx="256032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5F6B6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Asserts a measured outcome</a:t>
            </a:r>
            <a:endParaRPr lang="en-US" sz="1100" dirty="0"/>
          </a:p>
        </p:txBody>
      </p:sp>
      <p:sp>
        <p:nvSpPr>
          <p:cNvPr id="10" name="Shape 8"/>
          <p:cNvSpPr/>
          <p:nvPr/>
        </p:nvSpPr>
        <p:spPr>
          <a:xfrm>
            <a:off x="4983480" y="1965960"/>
            <a:ext cx="6629400" cy="822960"/>
          </a:xfrm>
          <a:prstGeom prst="roundRect">
            <a:avLst>
              <a:gd name="adj" fmla="val 6667"/>
            </a:avLst>
          </a:prstGeom>
          <a:solidFill>
            <a:srgbClr val="F3F6F7"/>
          </a:solidFill>
          <a:ln w="9525">
            <a:solidFill>
              <a:srgbClr val="DCE4E6"/>
            </a:solidFill>
            <a:prstDash val="solid"/>
          </a:ln>
        </p:spPr>
      </p:sp>
      <p:sp>
        <p:nvSpPr>
          <p:cNvPr id="11" name="Text 9"/>
          <p:cNvSpPr txBox="1"/>
          <p:nvPr/>
        </p:nvSpPr>
        <p:spPr>
          <a:xfrm>
            <a:off x="5212080" y="1965960"/>
            <a:ext cx="621792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2228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Bound to a metric ID in the register</a:t>
            </a:r>
            <a:endParaRPr lang="en-US" sz="1250" dirty="0"/>
          </a:p>
        </p:txBody>
      </p:sp>
      <p:sp>
        <p:nvSpPr>
          <p:cNvPr id="12" name="Shape 10"/>
          <p:cNvSpPr/>
          <p:nvPr/>
        </p:nvSpPr>
        <p:spPr>
          <a:xfrm>
            <a:off x="548640" y="2926080"/>
            <a:ext cx="1280160" cy="822960"/>
          </a:xfrm>
          <a:prstGeom prst="roundRect">
            <a:avLst>
              <a:gd name="adj" fmla="val 6667"/>
            </a:avLst>
          </a:prstGeom>
          <a:solidFill>
            <a:srgbClr val="0091A8"/>
          </a:solidFill>
          <a:ln w="9525">
            <a:solidFill>
              <a:srgbClr val="0091A8"/>
            </a:solidFill>
            <a:prstDash val="solid"/>
          </a:ln>
        </p:spPr>
      </p:sp>
      <p:sp>
        <p:nvSpPr>
          <p:cNvPr id="13" name="Text 11"/>
          <p:cNvSpPr txBox="1"/>
          <p:nvPr/>
        </p:nvSpPr>
        <p:spPr>
          <a:xfrm>
            <a:off x="548640" y="2926080"/>
            <a:ext cx="128016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6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B</a:t>
            </a:r>
            <a:endParaRPr lang="en-US" sz="2600" dirty="0"/>
          </a:p>
        </p:txBody>
      </p:sp>
      <p:sp>
        <p:nvSpPr>
          <p:cNvPr id="14" name="Shape 12"/>
          <p:cNvSpPr/>
          <p:nvPr/>
        </p:nvSpPr>
        <p:spPr>
          <a:xfrm>
            <a:off x="1965960" y="2926080"/>
            <a:ext cx="2834640" cy="822960"/>
          </a:xfrm>
          <a:prstGeom prst="roundRect">
            <a:avLst>
              <a:gd name="adj" fmla="val 6667"/>
            </a:avLst>
          </a:prstGeom>
          <a:solidFill>
            <a:srgbClr val="E9F3F5"/>
          </a:solidFill>
          <a:ln w="9525">
            <a:solidFill>
              <a:srgbClr val="E9F3F5"/>
            </a:solidFill>
            <a:prstDash val="solid"/>
          </a:ln>
        </p:spPr>
      </p:sp>
      <p:sp>
        <p:nvSpPr>
          <p:cNvPr id="15" name="Text 13"/>
          <p:cNvSpPr txBox="1"/>
          <p:nvPr/>
        </p:nvSpPr>
        <p:spPr>
          <a:xfrm>
            <a:off x="2148840" y="3035808"/>
            <a:ext cx="256032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00647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Process</a:t>
            </a:r>
            <a:endParaRPr lang="en-US" sz="1500" dirty="0"/>
          </a:p>
        </p:txBody>
      </p:sp>
      <p:sp>
        <p:nvSpPr>
          <p:cNvPr id="16" name="Text 14"/>
          <p:cNvSpPr txBox="1"/>
          <p:nvPr/>
        </p:nvSpPr>
        <p:spPr>
          <a:xfrm>
            <a:off x="2148840" y="3346704"/>
            <a:ext cx="256032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5F6B6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Asserts that something is done a certain way</a:t>
            </a:r>
            <a:endParaRPr lang="en-US" sz="1100" dirty="0"/>
          </a:p>
        </p:txBody>
      </p:sp>
      <p:sp>
        <p:nvSpPr>
          <p:cNvPr id="17" name="Shape 15"/>
          <p:cNvSpPr/>
          <p:nvPr/>
        </p:nvSpPr>
        <p:spPr>
          <a:xfrm>
            <a:off x="4983480" y="2926080"/>
            <a:ext cx="6629400" cy="822960"/>
          </a:xfrm>
          <a:prstGeom prst="roundRect">
            <a:avLst>
              <a:gd name="adj" fmla="val 6667"/>
            </a:avLst>
          </a:prstGeom>
          <a:solidFill>
            <a:srgbClr val="F3F6F7"/>
          </a:solidFill>
          <a:ln w="9525">
            <a:solidFill>
              <a:srgbClr val="DCE4E6"/>
            </a:solidFill>
            <a:prstDash val="solid"/>
          </a:ln>
        </p:spPr>
      </p:sp>
      <p:sp>
        <p:nvSpPr>
          <p:cNvPr id="18" name="Text 16"/>
          <p:cNvSpPr txBox="1"/>
          <p:nvPr/>
        </p:nvSpPr>
        <p:spPr>
          <a:xfrm>
            <a:off x="5212080" y="2926080"/>
            <a:ext cx="621792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2228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Bound to a policy, procedure or committee minute</a:t>
            </a:r>
            <a:endParaRPr lang="en-US" sz="1250" dirty="0"/>
          </a:p>
        </p:txBody>
      </p:sp>
      <p:sp>
        <p:nvSpPr>
          <p:cNvPr id="19" name="Shape 17"/>
          <p:cNvSpPr/>
          <p:nvPr/>
        </p:nvSpPr>
        <p:spPr>
          <a:xfrm>
            <a:off x="548640" y="3886200"/>
            <a:ext cx="1280160" cy="822960"/>
          </a:xfrm>
          <a:prstGeom prst="roundRect">
            <a:avLst>
              <a:gd name="adj" fmla="val 6667"/>
            </a:avLst>
          </a:prstGeom>
          <a:solidFill>
            <a:srgbClr val="4FB8CC"/>
          </a:solidFill>
          <a:ln w="9525">
            <a:solidFill>
              <a:srgbClr val="4FB8CC"/>
            </a:solidFill>
            <a:prstDash val="solid"/>
          </a:ln>
        </p:spPr>
      </p:sp>
      <p:sp>
        <p:nvSpPr>
          <p:cNvPr id="20" name="Text 18"/>
          <p:cNvSpPr txBox="1"/>
          <p:nvPr/>
        </p:nvSpPr>
        <p:spPr>
          <a:xfrm>
            <a:off x="548640" y="3886200"/>
            <a:ext cx="128016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600" b="1" dirty="0">
                <a:solidFill>
                  <a:srgbClr val="0F2A3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C</a:t>
            </a:r>
            <a:endParaRPr lang="en-US" sz="2600" dirty="0"/>
          </a:p>
        </p:txBody>
      </p:sp>
      <p:sp>
        <p:nvSpPr>
          <p:cNvPr id="21" name="Shape 19"/>
          <p:cNvSpPr/>
          <p:nvPr/>
        </p:nvSpPr>
        <p:spPr>
          <a:xfrm>
            <a:off x="1965960" y="3886200"/>
            <a:ext cx="2834640" cy="822960"/>
          </a:xfrm>
          <a:prstGeom prst="roundRect">
            <a:avLst>
              <a:gd name="adj" fmla="val 6667"/>
            </a:avLst>
          </a:prstGeom>
          <a:solidFill>
            <a:srgbClr val="E9F3F5"/>
          </a:solidFill>
          <a:ln w="9525">
            <a:solidFill>
              <a:srgbClr val="E9F3F5"/>
            </a:solidFill>
            <a:prstDash val="solid"/>
          </a:ln>
        </p:spPr>
      </p:sp>
      <p:sp>
        <p:nvSpPr>
          <p:cNvPr id="22" name="Text 20"/>
          <p:cNvSpPr txBox="1"/>
          <p:nvPr/>
        </p:nvSpPr>
        <p:spPr>
          <a:xfrm>
            <a:off x="2148840" y="3995928"/>
            <a:ext cx="256032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00647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Commitment</a:t>
            </a:r>
            <a:endParaRPr lang="en-US" sz="1500" dirty="0"/>
          </a:p>
        </p:txBody>
      </p:sp>
      <p:sp>
        <p:nvSpPr>
          <p:cNvPr id="23" name="Text 21"/>
          <p:cNvSpPr txBox="1"/>
          <p:nvPr/>
        </p:nvSpPr>
        <p:spPr>
          <a:xfrm>
            <a:off x="2148840" y="4306824"/>
            <a:ext cx="256032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5F6B6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Asserts a future intention</a:t>
            </a:r>
            <a:endParaRPr lang="en-US" sz="1100" dirty="0"/>
          </a:p>
        </p:txBody>
      </p:sp>
      <p:sp>
        <p:nvSpPr>
          <p:cNvPr id="24" name="Shape 22"/>
          <p:cNvSpPr/>
          <p:nvPr/>
        </p:nvSpPr>
        <p:spPr>
          <a:xfrm>
            <a:off x="4983480" y="3886200"/>
            <a:ext cx="6629400" cy="822960"/>
          </a:xfrm>
          <a:prstGeom prst="roundRect">
            <a:avLst>
              <a:gd name="adj" fmla="val 6667"/>
            </a:avLst>
          </a:prstGeom>
          <a:solidFill>
            <a:srgbClr val="F3F6F7"/>
          </a:solidFill>
          <a:ln w="9525">
            <a:solidFill>
              <a:srgbClr val="DCE4E6"/>
            </a:solidFill>
            <a:prstDash val="solid"/>
          </a:ln>
        </p:spPr>
      </p:sp>
      <p:sp>
        <p:nvSpPr>
          <p:cNvPr id="25" name="Text 23"/>
          <p:cNvSpPr txBox="1"/>
          <p:nvPr/>
        </p:nvSpPr>
        <p:spPr>
          <a:xfrm>
            <a:off x="5212080" y="3886200"/>
            <a:ext cx="621792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2228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Bound to a board-approved target with a date and an owner</a:t>
            </a:r>
            <a:endParaRPr lang="en-US" sz="1250" dirty="0"/>
          </a:p>
        </p:txBody>
      </p:sp>
      <p:sp>
        <p:nvSpPr>
          <p:cNvPr id="26" name="Shape 24"/>
          <p:cNvSpPr/>
          <p:nvPr/>
        </p:nvSpPr>
        <p:spPr>
          <a:xfrm>
            <a:off x="548640" y="4846320"/>
            <a:ext cx="1280160" cy="822960"/>
          </a:xfrm>
          <a:prstGeom prst="roundRect">
            <a:avLst>
              <a:gd name="adj" fmla="val 6667"/>
            </a:avLst>
          </a:prstGeom>
          <a:solidFill>
            <a:srgbClr val="CFD8DA"/>
          </a:solidFill>
          <a:ln w="9525">
            <a:solidFill>
              <a:srgbClr val="CFD8DA"/>
            </a:solidFill>
            <a:prstDash val="solid"/>
          </a:ln>
        </p:spPr>
      </p:sp>
      <p:sp>
        <p:nvSpPr>
          <p:cNvPr id="27" name="Text 25"/>
          <p:cNvSpPr txBox="1"/>
          <p:nvPr/>
        </p:nvSpPr>
        <p:spPr>
          <a:xfrm>
            <a:off x="548640" y="4846320"/>
            <a:ext cx="128016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600" b="1" dirty="0">
                <a:solidFill>
                  <a:srgbClr val="22282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D</a:t>
            </a:r>
            <a:endParaRPr lang="en-US" sz="2600" dirty="0"/>
          </a:p>
        </p:txBody>
      </p:sp>
      <p:sp>
        <p:nvSpPr>
          <p:cNvPr id="28" name="Shape 26"/>
          <p:cNvSpPr/>
          <p:nvPr/>
        </p:nvSpPr>
        <p:spPr>
          <a:xfrm>
            <a:off x="1965960" y="4846320"/>
            <a:ext cx="2834640" cy="822960"/>
          </a:xfrm>
          <a:prstGeom prst="roundRect">
            <a:avLst>
              <a:gd name="adj" fmla="val 6667"/>
            </a:avLst>
          </a:prstGeom>
          <a:solidFill>
            <a:srgbClr val="E9F3F5"/>
          </a:solidFill>
          <a:ln w="9525">
            <a:solidFill>
              <a:srgbClr val="E9F3F5"/>
            </a:solidFill>
            <a:prstDash val="solid"/>
          </a:ln>
        </p:spPr>
      </p:sp>
      <p:sp>
        <p:nvSpPr>
          <p:cNvPr id="29" name="Text 27"/>
          <p:cNvSpPr txBox="1"/>
          <p:nvPr/>
        </p:nvSpPr>
        <p:spPr>
          <a:xfrm>
            <a:off x="2148840" y="4956048"/>
            <a:ext cx="256032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00647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Context</a:t>
            </a:r>
            <a:endParaRPr lang="en-US" sz="1500" dirty="0"/>
          </a:p>
        </p:txBody>
      </p:sp>
      <p:sp>
        <p:nvSpPr>
          <p:cNvPr id="30" name="Text 28"/>
          <p:cNvSpPr txBox="1"/>
          <p:nvPr/>
        </p:nvSpPr>
        <p:spPr>
          <a:xfrm>
            <a:off x="2148840" y="5266944"/>
            <a:ext cx="256032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5F6B6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Describes the operating environment</a:t>
            </a:r>
            <a:endParaRPr lang="en-US" sz="1100" dirty="0"/>
          </a:p>
        </p:txBody>
      </p:sp>
      <p:sp>
        <p:nvSpPr>
          <p:cNvPr id="31" name="Shape 29"/>
          <p:cNvSpPr/>
          <p:nvPr/>
        </p:nvSpPr>
        <p:spPr>
          <a:xfrm>
            <a:off x="4983480" y="4846320"/>
            <a:ext cx="6629400" cy="822960"/>
          </a:xfrm>
          <a:prstGeom prst="roundRect">
            <a:avLst>
              <a:gd name="adj" fmla="val 6667"/>
            </a:avLst>
          </a:prstGeom>
          <a:solidFill>
            <a:srgbClr val="F3F6F7"/>
          </a:solidFill>
          <a:ln w="9525">
            <a:solidFill>
              <a:srgbClr val="DCE4E6"/>
            </a:solidFill>
            <a:prstDash val="solid"/>
          </a:ln>
        </p:spPr>
      </p:sp>
      <p:sp>
        <p:nvSpPr>
          <p:cNvPr id="32" name="Text 30"/>
          <p:cNvSpPr txBox="1"/>
          <p:nvPr/>
        </p:nvSpPr>
        <p:spPr>
          <a:xfrm>
            <a:off x="5212080" y="4846320"/>
            <a:ext cx="621792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2228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Bound to a cited external source</a:t>
            </a:r>
            <a:endParaRPr lang="en-US" sz="1250" dirty="0"/>
          </a:p>
        </p:txBody>
      </p:sp>
      <p:sp>
        <p:nvSpPr>
          <p:cNvPr id="33" name="Text 31"/>
          <p:cNvSpPr txBox="1"/>
          <p:nvPr/>
        </p:nvSpPr>
        <p:spPr>
          <a:xfrm>
            <a:off x="548640" y="5943600"/>
            <a:ext cx="1106424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i="1" dirty="0">
                <a:solidFill>
                  <a:srgbClr val="B03A2E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Aspiration with nothing behind it — “we are committed to being a leader in sustainability” — has no tier and never renders.</a:t>
            </a:r>
            <a:endParaRPr lang="en-US" sz="1400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solidFill>
          <a:srgbClr val="10182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310896"/>
            <a:ext cx="110642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200" kern="0" dirty="0">
                <a:solidFill>
                  <a:srgbClr val="6FC7D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WHERE MOST ESG REPORTS FAIL</a:t>
            </a:r>
            <a:endParaRPr lang="en-US" sz="1100" dirty="0"/>
          </a:p>
        </p:txBody>
      </p:sp>
      <p:sp>
        <p:nvSpPr>
          <p:cNvPr id="3" name="Text 1"/>
          <p:cNvSpPr txBox="1"/>
          <p:nvPr/>
        </p:nvSpPr>
        <p:spPr>
          <a:xfrm>
            <a:off x="548640" y="566928"/>
            <a:ext cx="11064240" cy="7132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9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The pairing rule</a:t>
            </a:r>
            <a:endParaRPr lang="en-US" sz="2900" dirty="0"/>
          </a:p>
        </p:txBody>
      </p:sp>
      <p:sp>
        <p:nvSpPr>
          <p:cNvPr id="4" name="Text 2"/>
          <p:cNvSpPr txBox="1"/>
          <p:nvPr/>
        </p:nvSpPr>
        <p:spPr>
          <a:xfrm>
            <a:off x="548640" y="1371600"/>
            <a:ext cx="1106424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C6D3D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Numbers without narrative are unreadable. Narrative without numbers is unfalsifiable. The generator refuses both.</a:t>
            </a:r>
            <a:endParaRPr lang="en-US" sz="1400" dirty="0"/>
          </a:p>
        </p:txBody>
      </p:sp>
      <p:sp>
        <p:nvSpPr>
          <p:cNvPr id="5" name="Shape 3"/>
          <p:cNvSpPr/>
          <p:nvPr/>
        </p:nvSpPr>
        <p:spPr>
          <a:xfrm>
            <a:off x="548640" y="2148840"/>
            <a:ext cx="3520440" cy="3611880"/>
          </a:xfrm>
          <a:prstGeom prst="roundRect">
            <a:avLst>
              <a:gd name="adj" fmla="val 1558"/>
            </a:avLst>
          </a:prstGeom>
          <a:solidFill>
            <a:srgbClr val="1B2B30"/>
          </a:solidFill>
          <a:ln w="9525">
            <a:solidFill>
              <a:srgbClr val="1B2B30"/>
            </a:solidFill>
            <a:prstDash val="solid"/>
          </a:ln>
        </p:spPr>
      </p:sp>
      <p:sp>
        <p:nvSpPr>
          <p:cNvPr id="6" name="Text 4"/>
          <p:cNvSpPr txBox="1"/>
          <p:nvPr/>
        </p:nvSpPr>
        <p:spPr>
          <a:xfrm>
            <a:off x="822960" y="2331720"/>
            <a:ext cx="2971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spc="200" kern="0" dirty="0">
                <a:solidFill>
                  <a:srgbClr val="E08D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FAILS</a:t>
            </a:r>
            <a:endParaRPr lang="en-US" sz="1000" dirty="0"/>
          </a:p>
        </p:txBody>
      </p:sp>
      <p:sp>
        <p:nvSpPr>
          <p:cNvPr id="7" name="Text 5"/>
          <p:cNvSpPr txBox="1"/>
          <p:nvPr/>
        </p:nvSpPr>
        <p:spPr>
          <a:xfrm>
            <a:off x="822960" y="2633472"/>
            <a:ext cx="29718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A number alone</a:t>
            </a:r>
            <a:endParaRPr lang="en-US" sz="1800" dirty="0"/>
          </a:p>
        </p:txBody>
      </p:sp>
      <p:sp>
        <p:nvSpPr>
          <p:cNvPr id="8" name="Shape 6"/>
          <p:cNvSpPr/>
          <p:nvPr/>
        </p:nvSpPr>
        <p:spPr>
          <a:xfrm>
            <a:off x="822960" y="3127248"/>
            <a:ext cx="2971800" cy="1508760"/>
          </a:xfrm>
          <a:prstGeom prst="roundRect">
            <a:avLst>
              <a:gd name="adj" fmla="val 3030"/>
            </a:avLst>
          </a:prstGeom>
          <a:solidFill>
            <a:srgbClr val="22343A"/>
          </a:solidFill>
          <a:ln w="12700">
            <a:solidFill>
              <a:srgbClr val="B03A2E"/>
            </a:solidFill>
            <a:prstDash val="solid"/>
          </a:ln>
        </p:spPr>
      </p:sp>
      <p:sp>
        <p:nvSpPr>
          <p:cNvPr id="9" name="Text 7"/>
          <p:cNvSpPr txBox="1"/>
          <p:nvPr/>
        </p:nvSpPr>
        <p:spPr>
          <a:xfrm>
            <a:off x="932688" y="3127248"/>
            <a:ext cx="2743200" cy="1508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i="1" dirty="0">
                <a:solidFill>
                  <a:srgbClr val="E8EEF0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“Scope 1 emissions were 12 480 tCO₂e.”</a:t>
            </a:r>
            <a:endParaRPr lang="en-US" sz="1200" dirty="0"/>
          </a:p>
        </p:txBody>
      </p:sp>
      <p:sp>
        <p:nvSpPr>
          <p:cNvPr id="10" name="Text 8"/>
          <p:cNvSpPr txBox="1"/>
          <p:nvPr/>
        </p:nvSpPr>
        <p:spPr>
          <a:xfrm>
            <a:off x="822960" y="4754880"/>
            <a:ext cx="297180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9AACB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reader cannot tell whether that is good, why it moved, or what happens next.</a:t>
            </a:r>
            <a:endParaRPr lang="en-US" sz="1200" dirty="0"/>
          </a:p>
        </p:txBody>
      </p:sp>
      <p:sp>
        <p:nvSpPr>
          <p:cNvPr id="11" name="Shape 9"/>
          <p:cNvSpPr/>
          <p:nvPr/>
        </p:nvSpPr>
        <p:spPr>
          <a:xfrm>
            <a:off x="4343400" y="2148840"/>
            <a:ext cx="3520440" cy="3611880"/>
          </a:xfrm>
          <a:prstGeom prst="roundRect">
            <a:avLst>
              <a:gd name="adj" fmla="val 1558"/>
            </a:avLst>
          </a:prstGeom>
          <a:solidFill>
            <a:srgbClr val="1B2B30"/>
          </a:solidFill>
          <a:ln w="9525">
            <a:solidFill>
              <a:srgbClr val="1B2B30"/>
            </a:solidFill>
            <a:prstDash val="solid"/>
          </a:ln>
        </p:spPr>
      </p:sp>
      <p:sp>
        <p:nvSpPr>
          <p:cNvPr id="12" name="Text 10"/>
          <p:cNvSpPr txBox="1"/>
          <p:nvPr/>
        </p:nvSpPr>
        <p:spPr>
          <a:xfrm>
            <a:off x="4617720" y="2331720"/>
            <a:ext cx="2971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spc="200" kern="0" dirty="0">
                <a:solidFill>
                  <a:srgbClr val="E08D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FAILS</a:t>
            </a:r>
            <a:endParaRPr lang="en-US" sz="1000" dirty="0"/>
          </a:p>
        </p:txBody>
      </p:sp>
      <p:sp>
        <p:nvSpPr>
          <p:cNvPr id="13" name="Text 11"/>
          <p:cNvSpPr txBox="1"/>
          <p:nvPr/>
        </p:nvSpPr>
        <p:spPr>
          <a:xfrm>
            <a:off x="4617720" y="2633472"/>
            <a:ext cx="29718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A claim alone</a:t>
            </a:r>
            <a:endParaRPr lang="en-US" sz="1800" dirty="0"/>
          </a:p>
        </p:txBody>
      </p:sp>
      <p:sp>
        <p:nvSpPr>
          <p:cNvPr id="14" name="Shape 12"/>
          <p:cNvSpPr/>
          <p:nvPr/>
        </p:nvSpPr>
        <p:spPr>
          <a:xfrm>
            <a:off x="4617720" y="3127248"/>
            <a:ext cx="2971800" cy="1508760"/>
          </a:xfrm>
          <a:prstGeom prst="roundRect">
            <a:avLst>
              <a:gd name="adj" fmla="val 3030"/>
            </a:avLst>
          </a:prstGeom>
          <a:solidFill>
            <a:srgbClr val="22343A"/>
          </a:solidFill>
          <a:ln w="12700">
            <a:solidFill>
              <a:srgbClr val="B03A2E"/>
            </a:solidFill>
            <a:prstDash val="solid"/>
          </a:ln>
        </p:spPr>
      </p:sp>
      <p:sp>
        <p:nvSpPr>
          <p:cNvPr id="15" name="Text 13"/>
          <p:cNvSpPr txBox="1"/>
          <p:nvPr/>
        </p:nvSpPr>
        <p:spPr>
          <a:xfrm>
            <a:off x="4727448" y="3127248"/>
            <a:ext cx="2743200" cy="1508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i="1" dirty="0">
                <a:solidFill>
                  <a:srgbClr val="E8EEF0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“We made strong progress on decarbonisation this year.”</a:t>
            </a:r>
            <a:endParaRPr lang="en-US" sz="1200" dirty="0"/>
          </a:p>
        </p:txBody>
      </p:sp>
      <p:sp>
        <p:nvSpPr>
          <p:cNvPr id="16" name="Text 14"/>
          <p:cNvSpPr txBox="1"/>
          <p:nvPr/>
        </p:nvSpPr>
        <p:spPr>
          <a:xfrm>
            <a:off x="4617720" y="4754880"/>
            <a:ext cx="297180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9AACB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Nothing to verify. This is the sentence a regulator circles.</a:t>
            </a:r>
            <a:endParaRPr lang="en-US" sz="1200" dirty="0"/>
          </a:p>
        </p:txBody>
      </p:sp>
      <p:sp>
        <p:nvSpPr>
          <p:cNvPr id="17" name="Shape 15"/>
          <p:cNvSpPr/>
          <p:nvPr/>
        </p:nvSpPr>
        <p:spPr>
          <a:xfrm>
            <a:off x="8138160" y="2148840"/>
            <a:ext cx="3520440" cy="3611880"/>
          </a:xfrm>
          <a:prstGeom prst="roundRect">
            <a:avLst>
              <a:gd name="adj" fmla="val 1558"/>
            </a:avLst>
          </a:prstGeom>
          <a:solidFill>
            <a:srgbClr val="1B2B30"/>
          </a:solidFill>
          <a:ln w="9525">
            <a:solidFill>
              <a:srgbClr val="1B2B30"/>
            </a:solidFill>
            <a:prstDash val="solid"/>
          </a:ln>
        </p:spPr>
      </p:sp>
      <p:sp>
        <p:nvSpPr>
          <p:cNvPr id="18" name="Text 16"/>
          <p:cNvSpPr txBox="1"/>
          <p:nvPr/>
        </p:nvSpPr>
        <p:spPr>
          <a:xfrm>
            <a:off x="8412480" y="2331720"/>
            <a:ext cx="2971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spc="200" kern="0" dirty="0">
                <a:solidFill>
                  <a:srgbClr val="7FCAD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RENDERS</a:t>
            </a:r>
            <a:endParaRPr lang="en-US" sz="1000" dirty="0"/>
          </a:p>
        </p:txBody>
      </p:sp>
      <p:sp>
        <p:nvSpPr>
          <p:cNvPr id="19" name="Text 17"/>
          <p:cNvSpPr txBox="1"/>
          <p:nvPr/>
        </p:nvSpPr>
        <p:spPr>
          <a:xfrm>
            <a:off x="8412480" y="2633472"/>
            <a:ext cx="29718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Paired</a:t>
            </a:r>
            <a:endParaRPr lang="en-US" sz="1800" dirty="0"/>
          </a:p>
        </p:txBody>
      </p:sp>
      <p:sp>
        <p:nvSpPr>
          <p:cNvPr id="20" name="Shape 18"/>
          <p:cNvSpPr/>
          <p:nvPr/>
        </p:nvSpPr>
        <p:spPr>
          <a:xfrm>
            <a:off x="8412480" y="3127248"/>
            <a:ext cx="2971800" cy="1508760"/>
          </a:xfrm>
          <a:prstGeom prst="roundRect">
            <a:avLst>
              <a:gd name="adj" fmla="val 3030"/>
            </a:avLst>
          </a:prstGeom>
          <a:solidFill>
            <a:srgbClr val="22343A"/>
          </a:solidFill>
          <a:ln w="12700">
            <a:solidFill>
              <a:srgbClr val="0091A8"/>
            </a:solidFill>
            <a:prstDash val="solid"/>
          </a:ln>
        </p:spPr>
      </p:sp>
      <p:sp>
        <p:nvSpPr>
          <p:cNvPr id="21" name="Text 19"/>
          <p:cNvSpPr txBox="1"/>
          <p:nvPr/>
        </p:nvSpPr>
        <p:spPr>
          <a:xfrm>
            <a:off x="8522208" y="3127248"/>
            <a:ext cx="2743200" cy="1508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i="1" dirty="0">
                <a:solidFill>
                  <a:srgbClr val="E8EEF0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“Scope 1 fell 8.4% to 12 480 tCO₂e, ahead of the 6.7% pathway, driven by the depot fleet conversion completed in Q2.”</a:t>
            </a:r>
            <a:endParaRPr lang="en-US" sz="1200" dirty="0"/>
          </a:p>
        </p:txBody>
      </p:sp>
      <p:sp>
        <p:nvSpPr>
          <p:cNvPr id="22" name="Text 20"/>
          <p:cNvSpPr txBox="1"/>
          <p:nvPr/>
        </p:nvSpPr>
        <p:spPr>
          <a:xfrm>
            <a:off x="8412480" y="4754880"/>
            <a:ext cx="297180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9AACB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figure, a comparison, a cause and a linked action. Both halves bound to evidence.</a:t>
            </a:r>
            <a:endParaRPr lang="en-US" sz="1200" dirty="0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310896"/>
            <a:ext cx="110642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200" kern="0" dirty="0">
                <a:solidFill>
                  <a:srgbClr val="0091A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QUALITATIVE REPORTING</a:t>
            </a:r>
            <a:endParaRPr lang="en-US" sz="1100" dirty="0"/>
          </a:p>
        </p:txBody>
      </p:sp>
      <p:sp>
        <p:nvSpPr>
          <p:cNvPr id="3" name="Text 1"/>
          <p:cNvSpPr txBox="1"/>
          <p:nvPr/>
        </p:nvSpPr>
        <p:spPr>
          <a:xfrm>
            <a:off x="548640" y="566928"/>
            <a:ext cx="11064240" cy="7132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900" b="1" dirty="0">
                <a:solidFill>
                  <a:srgbClr val="00647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How the narrative is actually generated</a:t>
            </a:r>
            <a:endParaRPr lang="en-US" sz="2900" dirty="0"/>
          </a:p>
        </p:txBody>
      </p:sp>
      <p:sp>
        <p:nvSpPr>
          <p:cNvPr id="4" name="Text 2"/>
          <p:cNvSpPr txBox="1"/>
          <p:nvPr/>
        </p:nvSpPr>
        <p:spPr>
          <a:xfrm>
            <a:off x="548640" y="1371600"/>
            <a:ext cx="1106424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5F6B6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Not free text, and not fill-in-the-blank. Each block is a conditional sentence with a trigger, bound variables and an evidence requirement.</a:t>
            </a:r>
            <a:endParaRPr lang="en-US" sz="1400" dirty="0"/>
          </a:p>
        </p:txBody>
      </p:sp>
      <p:sp>
        <p:nvSpPr>
          <p:cNvPr id="5" name="Shape 3"/>
          <p:cNvSpPr/>
          <p:nvPr/>
        </p:nvSpPr>
        <p:spPr>
          <a:xfrm>
            <a:off x="548640" y="2103120"/>
            <a:ext cx="2057400" cy="3200400"/>
          </a:xfrm>
          <a:prstGeom prst="roundRect">
            <a:avLst>
              <a:gd name="adj" fmla="val 2667"/>
            </a:avLst>
          </a:prstGeom>
          <a:solidFill>
            <a:srgbClr val="F3F6F7"/>
          </a:solidFill>
          <a:ln w="9525">
            <a:solidFill>
              <a:srgbClr val="DCE4E6"/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1325880" y="2331720"/>
            <a:ext cx="502920" cy="502920"/>
          </a:xfrm>
          <a:prstGeom prst="ellipse">
            <a:avLst/>
          </a:prstGeom>
          <a:solidFill>
            <a:srgbClr val="00647A"/>
          </a:solidFill>
          <a:ln/>
        </p:spPr>
      </p:sp>
      <p:sp>
        <p:nvSpPr>
          <p:cNvPr id="7" name="Text 5"/>
          <p:cNvSpPr txBox="1"/>
          <p:nvPr/>
        </p:nvSpPr>
        <p:spPr>
          <a:xfrm>
            <a:off x="1325880" y="2331720"/>
            <a:ext cx="5029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</a:t>
            </a:r>
            <a:endParaRPr lang="en-US" sz="1600" dirty="0"/>
          </a:p>
        </p:txBody>
      </p:sp>
      <p:sp>
        <p:nvSpPr>
          <p:cNvPr id="8" name="Text 6"/>
          <p:cNvSpPr txBox="1"/>
          <p:nvPr/>
        </p:nvSpPr>
        <p:spPr>
          <a:xfrm>
            <a:off x="731520" y="2971800"/>
            <a:ext cx="169164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00647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Trigger fires</a:t>
            </a:r>
            <a:endParaRPr lang="en-US" sz="1400" dirty="0"/>
          </a:p>
        </p:txBody>
      </p:sp>
      <p:sp>
        <p:nvSpPr>
          <p:cNvPr id="9" name="Text 7"/>
          <p:cNvSpPr txBox="1"/>
          <p:nvPr/>
        </p:nvSpPr>
        <p:spPr>
          <a:xfrm>
            <a:off x="731520" y="3584448"/>
            <a:ext cx="1691640" cy="1554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5F6B6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Metric variance passes a threshold, a target is met, regulation comes into force, or data quality shifts</a:t>
            </a:r>
            <a:endParaRPr lang="en-US" sz="1100" dirty="0"/>
          </a:p>
        </p:txBody>
      </p:sp>
      <p:sp>
        <p:nvSpPr>
          <p:cNvPr id="10" name="Shape 8"/>
          <p:cNvSpPr/>
          <p:nvPr/>
        </p:nvSpPr>
        <p:spPr>
          <a:xfrm>
            <a:off x="2651760" y="3566160"/>
            <a:ext cx="146304" cy="201168"/>
          </a:xfrm>
          <a:prstGeom prst="rightArrow">
            <a:avLst/>
          </a:prstGeom>
          <a:solidFill>
            <a:srgbClr val="0091A8"/>
          </a:solidFill>
          <a:ln/>
        </p:spPr>
      </p:sp>
      <p:sp>
        <p:nvSpPr>
          <p:cNvPr id="11" name="Shape 9"/>
          <p:cNvSpPr/>
          <p:nvPr/>
        </p:nvSpPr>
        <p:spPr>
          <a:xfrm>
            <a:off x="2788920" y="2103120"/>
            <a:ext cx="2057400" cy="3200400"/>
          </a:xfrm>
          <a:prstGeom prst="roundRect">
            <a:avLst>
              <a:gd name="adj" fmla="val 2667"/>
            </a:avLst>
          </a:prstGeom>
          <a:solidFill>
            <a:srgbClr val="F3F6F7"/>
          </a:solidFill>
          <a:ln w="9525">
            <a:solidFill>
              <a:srgbClr val="DCE4E6"/>
            </a:solidFill>
            <a:prstDash val="solid"/>
          </a:ln>
        </p:spPr>
      </p:sp>
      <p:sp>
        <p:nvSpPr>
          <p:cNvPr id="12" name="Shape 10"/>
          <p:cNvSpPr/>
          <p:nvPr/>
        </p:nvSpPr>
        <p:spPr>
          <a:xfrm>
            <a:off x="3566160" y="2331720"/>
            <a:ext cx="502920" cy="502920"/>
          </a:xfrm>
          <a:prstGeom prst="ellipse">
            <a:avLst/>
          </a:prstGeom>
          <a:solidFill>
            <a:srgbClr val="00647A"/>
          </a:solidFill>
          <a:ln/>
        </p:spPr>
      </p:sp>
      <p:sp>
        <p:nvSpPr>
          <p:cNvPr id="13" name="Text 11"/>
          <p:cNvSpPr txBox="1"/>
          <p:nvPr/>
        </p:nvSpPr>
        <p:spPr>
          <a:xfrm>
            <a:off x="3566160" y="2331720"/>
            <a:ext cx="5029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1600" dirty="0"/>
          </a:p>
        </p:txBody>
      </p:sp>
      <p:sp>
        <p:nvSpPr>
          <p:cNvPr id="14" name="Text 12"/>
          <p:cNvSpPr txBox="1"/>
          <p:nvPr/>
        </p:nvSpPr>
        <p:spPr>
          <a:xfrm>
            <a:off x="2971800" y="2971800"/>
            <a:ext cx="169164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00647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Block selected</a:t>
            </a:r>
            <a:endParaRPr lang="en-US" sz="1400" dirty="0"/>
          </a:p>
        </p:txBody>
      </p:sp>
      <p:sp>
        <p:nvSpPr>
          <p:cNvPr id="15" name="Text 13"/>
          <p:cNvSpPr txBox="1"/>
          <p:nvPr/>
        </p:nvSpPr>
        <p:spPr>
          <a:xfrm>
            <a:off x="2971800" y="3584448"/>
            <a:ext cx="1691640" cy="1554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5F6B6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narrative library returns the block matching the trigger, the topic and the claim tier</a:t>
            </a:r>
            <a:endParaRPr lang="en-US" sz="1100" dirty="0"/>
          </a:p>
        </p:txBody>
      </p:sp>
      <p:sp>
        <p:nvSpPr>
          <p:cNvPr id="16" name="Shape 14"/>
          <p:cNvSpPr/>
          <p:nvPr/>
        </p:nvSpPr>
        <p:spPr>
          <a:xfrm>
            <a:off x="4892040" y="3566160"/>
            <a:ext cx="146304" cy="201168"/>
          </a:xfrm>
          <a:prstGeom prst="rightArrow">
            <a:avLst/>
          </a:prstGeom>
          <a:solidFill>
            <a:srgbClr val="0091A8"/>
          </a:solidFill>
          <a:ln/>
        </p:spPr>
      </p:sp>
      <p:sp>
        <p:nvSpPr>
          <p:cNvPr id="17" name="Shape 15"/>
          <p:cNvSpPr/>
          <p:nvPr/>
        </p:nvSpPr>
        <p:spPr>
          <a:xfrm>
            <a:off x="5029200" y="2103120"/>
            <a:ext cx="2057400" cy="3200400"/>
          </a:xfrm>
          <a:prstGeom prst="roundRect">
            <a:avLst>
              <a:gd name="adj" fmla="val 2667"/>
            </a:avLst>
          </a:prstGeom>
          <a:solidFill>
            <a:srgbClr val="F3F6F7"/>
          </a:solidFill>
          <a:ln w="9525">
            <a:solidFill>
              <a:srgbClr val="DCE4E6"/>
            </a:solidFill>
            <a:prstDash val="solid"/>
          </a:ln>
        </p:spPr>
      </p:sp>
      <p:sp>
        <p:nvSpPr>
          <p:cNvPr id="18" name="Shape 16"/>
          <p:cNvSpPr/>
          <p:nvPr/>
        </p:nvSpPr>
        <p:spPr>
          <a:xfrm>
            <a:off x="5806440" y="2331720"/>
            <a:ext cx="502920" cy="502920"/>
          </a:xfrm>
          <a:prstGeom prst="ellipse">
            <a:avLst/>
          </a:prstGeom>
          <a:solidFill>
            <a:srgbClr val="00647A"/>
          </a:solidFill>
          <a:ln/>
        </p:spPr>
      </p:sp>
      <p:sp>
        <p:nvSpPr>
          <p:cNvPr id="19" name="Text 17"/>
          <p:cNvSpPr txBox="1"/>
          <p:nvPr/>
        </p:nvSpPr>
        <p:spPr>
          <a:xfrm>
            <a:off x="5806440" y="2331720"/>
            <a:ext cx="5029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1600" dirty="0"/>
          </a:p>
        </p:txBody>
      </p:sp>
      <p:sp>
        <p:nvSpPr>
          <p:cNvPr id="20" name="Text 18"/>
          <p:cNvSpPr txBox="1"/>
          <p:nvPr/>
        </p:nvSpPr>
        <p:spPr>
          <a:xfrm>
            <a:off x="5212080" y="2971800"/>
            <a:ext cx="169164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00647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Variables bound</a:t>
            </a:r>
            <a:endParaRPr lang="en-US" sz="1400" dirty="0"/>
          </a:p>
        </p:txBody>
      </p:sp>
      <p:sp>
        <p:nvSpPr>
          <p:cNvPr id="21" name="Text 19"/>
          <p:cNvSpPr txBox="1"/>
          <p:nvPr/>
        </p:nvSpPr>
        <p:spPr>
          <a:xfrm>
            <a:off x="5212080" y="3584448"/>
            <a:ext cx="1691640" cy="1554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5F6B6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Figures, dates, entity names and owners pull from the metric register, never retyped</a:t>
            </a:r>
            <a:endParaRPr lang="en-US" sz="1100" dirty="0"/>
          </a:p>
        </p:txBody>
      </p:sp>
      <p:sp>
        <p:nvSpPr>
          <p:cNvPr id="22" name="Shape 20"/>
          <p:cNvSpPr/>
          <p:nvPr/>
        </p:nvSpPr>
        <p:spPr>
          <a:xfrm>
            <a:off x="7132320" y="3566160"/>
            <a:ext cx="146304" cy="201168"/>
          </a:xfrm>
          <a:prstGeom prst="rightArrow">
            <a:avLst/>
          </a:prstGeom>
          <a:solidFill>
            <a:srgbClr val="0091A8"/>
          </a:solidFill>
          <a:ln/>
        </p:spPr>
      </p:sp>
      <p:sp>
        <p:nvSpPr>
          <p:cNvPr id="23" name="Shape 21"/>
          <p:cNvSpPr/>
          <p:nvPr/>
        </p:nvSpPr>
        <p:spPr>
          <a:xfrm>
            <a:off x="7269480" y="2103120"/>
            <a:ext cx="2057400" cy="3200400"/>
          </a:xfrm>
          <a:prstGeom prst="roundRect">
            <a:avLst>
              <a:gd name="adj" fmla="val 2667"/>
            </a:avLst>
          </a:prstGeom>
          <a:solidFill>
            <a:srgbClr val="F3F6F7"/>
          </a:solidFill>
          <a:ln w="9525">
            <a:solidFill>
              <a:srgbClr val="DCE4E6"/>
            </a:solidFill>
            <a:prstDash val="solid"/>
          </a:ln>
        </p:spPr>
      </p:sp>
      <p:sp>
        <p:nvSpPr>
          <p:cNvPr id="24" name="Shape 22"/>
          <p:cNvSpPr/>
          <p:nvPr/>
        </p:nvSpPr>
        <p:spPr>
          <a:xfrm>
            <a:off x="8046720" y="2331720"/>
            <a:ext cx="502920" cy="502920"/>
          </a:xfrm>
          <a:prstGeom prst="ellipse">
            <a:avLst/>
          </a:prstGeom>
          <a:solidFill>
            <a:srgbClr val="00647A"/>
          </a:solidFill>
          <a:ln/>
        </p:spPr>
      </p:sp>
      <p:sp>
        <p:nvSpPr>
          <p:cNvPr id="25" name="Text 23"/>
          <p:cNvSpPr txBox="1"/>
          <p:nvPr/>
        </p:nvSpPr>
        <p:spPr>
          <a:xfrm>
            <a:off x="8046720" y="2331720"/>
            <a:ext cx="5029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</a:t>
            </a:r>
            <a:endParaRPr lang="en-US" sz="1600" dirty="0"/>
          </a:p>
        </p:txBody>
      </p:sp>
      <p:sp>
        <p:nvSpPr>
          <p:cNvPr id="26" name="Text 24"/>
          <p:cNvSpPr txBox="1"/>
          <p:nvPr/>
        </p:nvSpPr>
        <p:spPr>
          <a:xfrm>
            <a:off x="7452360" y="2971800"/>
            <a:ext cx="169164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00647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Evidence checked</a:t>
            </a:r>
            <a:endParaRPr lang="en-US" sz="1400" dirty="0"/>
          </a:p>
        </p:txBody>
      </p:sp>
      <p:sp>
        <p:nvSpPr>
          <p:cNvPr id="27" name="Text 25"/>
          <p:cNvSpPr txBox="1"/>
          <p:nvPr/>
        </p:nvSpPr>
        <p:spPr>
          <a:xfrm>
            <a:off x="7452360" y="3584448"/>
            <a:ext cx="1691640" cy="1554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5F6B6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block's evidence IDs must resolve. If any is empty the block is blocked, not softened</a:t>
            </a:r>
            <a:endParaRPr lang="en-US" sz="1100" dirty="0"/>
          </a:p>
        </p:txBody>
      </p:sp>
      <p:sp>
        <p:nvSpPr>
          <p:cNvPr id="28" name="Shape 26"/>
          <p:cNvSpPr/>
          <p:nvPr/>
        </p:nvSpPr>
        <p:spPr>
          <a:xfrm>
            <a:off x="9372600" y="3566160"/>
            <a:ext cx="146304" cy="201168"/>
          </a:xfrm>
          <a:prstGeom prst="rightArrow">
            <a:avLst/>
          </a:prstGeom>
          <a:solidFill>
            <a:srgbClr val="0091A8"/>
          </a:solidFill>
          <a:ln/>
        </p:spPr>
      </p:sp>
      <p:sp>
        <p:nvSpPr>
          <p:cNvPr id="29" name="Shape 27"/>
          <p:cNvSpPr/>
          <p:nvPr/>
        </p:nvSpPr>
        <p:spPr>
          <a:xfrm>
            <a:off x="9509760" y="2103120"/>
            <a:ext cx="2057400" cy="3200400"/>
          </a:xfrm>
          <a:prstGeom prst="roundRect">
            <a:avLst>
              <a:gd name="adj" fmla="val 2667"/>
            </a:avLst>
          </a:prstGeom>
          <a:solidFill>
            <a:srgbClr val="F3F6F7"/>
          </a:solidFill>
          <a:ln w="9525">
            <a:solidFill>
              <a:srgbClr val="DCE4E6"/>
            </a:solidFill>
            <a:prstDash val="solid"/>
          </a:ln>
        </p:spPr>
      </p:sp>
      <p:sp>
        <p:nvSpPr>
          <p:cNvPr id="30" name="Shape 28"/>
          <p:cNvSpPr/>
          <p:nvPr/>
        </p:nvSpPr>
        <p:spPr>
          <a:xfrm>
            <a:off x="10287000" y="2331720"/>
            <a:ext cx="502920" cy="502920"/>
          </a:xfrm>
          <a:prstGeom prst="ellipse">
            <a:avLst/>
          </a:prstGeom>
          <a:solidFill>
            <a:srgbClr val="0091A8"/>
          </a:solidFill>
          <a:ln/>
        </p:spPr>
      </p:sp>
      <p:sp>
        <p:nvSpPr>
          <p:cNvPr id="31" name="Text 29"/>
          <p:cNvSpPr txBox="1"/>
          <p:nvPr/>
        </p:nvSpPr>
        <p:spPr>
          <a:xfrm>
            <a:off x="10287000" y="2331720"/>
            <a:ext cx="5029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</a:t>
            </a:r>
            <a:endParaRPr lang="en-US" sz="1600" dirty="0"/>
          </a:p>
        </p:txBody>
      </p:sp>
      <p:sp>
        <p:nvSpPr>
          <p:cNvPr id="32" name="Text 30"/>
          <p:cNvSpPr txBox="1"/>
          <p:nvPr/>
        </p:nvSpPr>
        <p:spPr>
          <a:xfrm>
            <a:off x="9692640" y="2971800"/>
            <a:ext cx="169164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00647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Analyst review</a:t>
            </a:r>
            <a:endParaRPr lang="en-US" sz="1400" dirty="0"/>
          </a:p>
        </p:txBody>
      </p:sp>
      <p:sp>
        <p:nvSpPr>
          <p:cNvPr id="33" name="Text 31"/>
          <p:cNvSpPr txBox="1"/>
          <p:nvPr/>
        </p:nvSpPr>
        <p:spPr>
          <a:xfrm>
            <a:off x="9692640" y="3584448"/>
            <a:ext cx="1691640" cy="1554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5F6B6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Tier 2 and above: a human writes the strategy and roadmap prose. This is where the margin lives</a:t>
            </a:r>
            <a:endParaRPr lang="en-US" sz="1100" dirty="0"/>
          </a:p>
        </p:txBody>
      </p:sp>
      <p:sp>
        <p:nvSpPr>
          <p:cNvPr id="34" name="Text 32"/>
          <p:cNvSpPr txBox="1"/>
          <p:nvPr/>
        </p:nvSpPr>
        <p:spPr>
          <a:xfrm>
            <a:off x="548640" y="5577840"/>
            <a:ext cx="1106424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i="1" dirty="0">
                <a:solidFill>
                  <a:srgbClr val="5F6B6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library is versioned. Editing a sentence updates every future report, and past reports still record the version they used.</a:t>
            </a:r>
            <a:endParaRPr lang="en-US" sz="1250" dirty="0"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">
    <p:bg>
      <p:bgPr>
        <a:solidFill>
          <a:srgbClr val="10182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310896"/>
            <a:ext cx="110642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200" kern="0" dirty="0">
                <a:solidFill>
                  <a:srgbClr val="6FC7D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MOST TRANSFERABLE DEVICE IN THE REFERENCE SET</a:t>
            </a:r>
            <a:endParaRPr lang="en-US" sz="1100" dirty="0"/>
          </a:p>
        </p:txBody>
      </p:sp>
      <p:sp>
        <p:nvSpPr>
          <p:cNvPr id="3" name="Text 1"/>
          <p:cNvSpPr txBox="1"/>
          <p:nvPr/>
        </p:nvSpPr>
        <p:spPr>
          <a:xfrm>
            <a:off x="548640" y="566928"/>
            <a:ext cx="11064240" cy="7132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9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A stated, reasoned omission reads as governance maturity</a:t>
            </a:r>
            <a:endParaRPr lang="en-US" sz="2900" dirty="0"/>
          </a:p>
        </p:txBody>
      </p:sp>
      <p:sp>
        <p:nvSpPr>
          <p:cNvPr id="4" name="Text 2"/>
          <p:cNvSpPr txBox="1"/>
          <p:nvPr/>
        </p:nvSpPr>
        <p:spPr>
          <a:xfrm>
            <a:off x="548640" y="1463040"/>
            <a:ext cx="1106424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C6D3D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silent gap reads as evasion. The JSE “Commentary:” pattern, systematised.</a:t>
            </a:r>
            <a:endParaRPr lang="en-US" sz="1400" dirty="0"/>
          </a:p>
        </p:txBody>
      </p:sp>
      <p:graphicFrame>
        <p:nvGraphicFramePr>
          <p:cNvPr id="14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548640" y="2103120"/>
          <a:ext cx="11064240" cy="914400"/>
        </p:xfrm>
        <a:graphic>
          <a:graphicData uri="http://schemas.openxmlformats.org/drawingml/2006/table">
            <a:tbl>
              <a:tblPr/>
              <a:tblGrid>
                <a:gridCol w="2834640"/>
                <a:gridCol w="8229600"/>
              </a:tblGrid>
              <a:tr h="56692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Code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2A3B4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2A3B4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A3B4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A3B4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647A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Renders as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2A3B4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2A3B4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A3B4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A3B4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647A"/>
                    </a:solidFill>
                  </a:tcPr>
                </a:tc>
              </a:tr>
              <a:tr h="56692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E8EEF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NOT_MATERIAL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2A3B4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2A3B4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A3B4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A3B4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B2B30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E8EEF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Assessed as not material to [entity] given [reason]. Reviewed annually.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2A3B4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2A3B4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A3B4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A3B4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B2B30"/>
                    </a:solidFill>
                  </a:tcPr>
                </a:tc>
              </a:tr>
              <a:tr h="56692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E8EEF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NOT_APPLICABLE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2A3B4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2A3B4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A3B4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A3B4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B2B30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E8EEF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Not applicable to [entity]'s operations. [Reason].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2A3B4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2A3B4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A3B4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A3B4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B2B30"/>
                    </a:solidFill>
                  </a:tcPr>
                </a:tc>
              </a:tr>
              <a:tr h="56692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E8EEF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DATA_UNAVAILABLE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2A3B4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2A3B4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A3B4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A3B4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B2B30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E8EEF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[Entity] does not currently collect this data. A remediation action is recorded at [roadmap ref], targeted for [date].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2A3B4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2A3B4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A3B4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A3B4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B2B30"/>
                    </a:solidFill>
                  </a:tcPr>
                </a:tc>
              </a:tr>
              <a:tr h="56692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E8EEF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IN_PROGRESS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2A3B4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2A3B4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A3B4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A3B4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B2B30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E8EEF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Measurement commenced [date]; a full-period figure will be reported from [period].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2A3B4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2A3B4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A3B4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A3B4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B2B30"/>
                    </a:solidFill>
                  </a:tcPr>
                </a:tc>
              </a:tr>
              <a:tr h="56692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E8EEF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CONFIDENTIAL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2A3B4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2A3B4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A3B4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A3B4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B2B30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E8EEF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Withheld on confidentiality grounds. [Basis].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2A3B4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2A3B4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A3B4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A3B4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B2B30"/>
                    </a:solidFill>
                  </a:tcPr>
                </a:tc>
              </a:tr>
            </a:tbl>
          </a:graphicData>
        </a:graphic>
      </p:graphicFrame>
      <p:sp>
        <p:nvSpPr>
          <p:cNvPr id="6" name="Text 3"/>
          <p:cNvSpPr txBox="1"/>
          <p:nvPr/>
        </p:nvSpPr>
        <p:spPr>
          <a:xfrm>
            <a:off x="548640" y="5715000"/>
            <a:ext cx="105156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i="1" dirty="0">
                <a:solidFill>
                  <a:srgbClr val="6FC7D6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Every DATA_UNAVAILABLE and IN_PROGRESS automatically creates a gap-register row and a roadmap action.</a:t>
            </a:r>
            <a:endParaRPr lang="en-US" sz="1500" dirty="0"/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310896"/>
            <a:ext cx="110642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200" kern="0" dirty="0">
                <a:solidFill>
                  <a:srgbClr val="0091A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ARCHITECTURE</a:t>
            </a:r>
            <a:endParaRPr lang="en-US" sz="1100" dirty="0"/>
          </a:p>
        </p:txBody>
      </p:sp>
      <p:sp>
        <p:nvSpPr>
          <p:cNvPr id="3" name="Text 1"/>
          <p:cNvSpPr txBox="1"/>
          <p:nvPr/>
        </p:nvSpPr>
        <p:spPr>
          <a:xfrm>
            <a:off x="548640" y="566928"/>
            <a:ext cx="11064240" cy="7132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900" b="1" dirty="0">
                <a:solidFill>
                  <a:srgbClr val="00647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One data spine, four renderings</a:t>
            </a:r>
            <a:endParaRPr lang="en-US" sz="2900" dirty="0"/>
          </a:p>
        </p:txBody>
      </p:sp>
      <p:sp>
        <p:nvSpPr>
          <p:cNvPr id="4" name="Text 2"/>
          <p:cNvSpPr txBox="1"/>
          <p:nvPr/>
        </p:nvSpPr>
        <p:spPr>
          <a:xfrm>
            <a:off x="548640" y="1371600"/>
            <a:ext cx="1106424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5F6B6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Do not build four templates. Renderings B, C and D are filters over the same spine and cost almost nothing once it exists.</a:t>
            </a:r>
            <a:endParaRPr lang="en-US" sz="1400" dirty="0"/>
          </a:p>
        </p:txBody>
      </p:sp>
      <p:sp>
        <p:nvSpPr>
          <p:cNvPr id="5" name="Shape 3"/>
          <p:cNvSpPr/>
          <p:nvPr/>
        </p:nvSpPr>
        <p:spPr>
          <a:xfrm>
            <a:off x="548640" y="2011680"/>
            <a:ext cx="3108960" cy="3749040"/>
          </a:xfrm>
          <a:prstGeom prst="roundRect">
            <a:avLst>
              <a:gd name="adj" fmla="val 1765"/>
            </a:avLst>
          </a:prstGeom>
          <a:solidFill>
            <a:srgbClr val="101820"/>
          </a:solidFill>
          <a:ln w="9525">
            <a:solidFill>
              <a:srgbClr val="101820"/>
            </a:solidFill>
            <a:prstDash val="solid"/>
          </a:ln>
        </p:spPr>
      </p:sp>
      <p:sp>
        <p:nvSpPr>
          <p:cNvPr id="6" name="Text 4"/>
          <p:cNvSpPr txBox="1"/>
          <p:nvPr/>
        </p:nvSpPr>
        <p:spPr>
          <a:xfrm>
            <a:off x="868680" y="2286000"/>
            <a:ext cx="24688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200" kern="0" dirty="0">
                <a:solidFill>
                  <a:srgbClr val="6FC7D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DATA SPINE</a:t>
            </a:r>
            <a:endParaRPr lang="en-US" sz="1100" dirty="0"/>
          </a:p>
        </p:txBody>
      </p:sp>
      <p:sp>
        <p:nvSpPr>
          <p:cNvPr id="7" name="Text 5"/>
          <p:cNvSpPr txBox="1"/>
          <p:nvPr/>
        </p:nvSpPr>
        <p:spPr>
          <a:xfrm>
            <a:off x="868680" y="2743200"/>
            <a:ext cx="2514600" cy="21945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342900" indent="-342900">
              <a:spcAft>
                <a:spcPts val="1000"/>
              </a:spcAft>
              <a:buSzPct val="100000"/>
              <a:buChar char="•"/>
            </a:pPr>
            <a:r>
              <a:rPr lang="en-US" sz="1300" dirty="0">
                <a:solidFill>
                  <a:srgbClr val="C6D3D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Metric register</a:t>
            </a:r>
            <a:endParaRPr lang="en-US" sz="1300" dirty="0"/>
          </a:p>
          <a:p>
            <a:pPr marL="342900" indent="-342900">
              <a:spcAft>
                <a:spcPts val="1000"/>
              </a:spcAft>
              <a:buSzPct val="100000"/>
              <a:buChar char="•"/>
            </a:pPr>
            <a:r>
              <a:rPr lang="en-US" sz="1300" dirty="0">
                <a:solidFill>
                  <a:srgbClr val="C6D3D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Evidence register</a:t>
            </a:r>
            <a:endParaRPr lang="en-US" sz="1300" dirty="0"/>
          </a:p>
          <a:p>
            <a:pPr marL="342900" indent="-342900">
              <a:spcAft>
                <a:spcPts val="1000"/>
              </a:spcAft>
              <a:buSzPct val="100000"/>
              <a:buChar char="•"/>
            </a:pPr>
            <a:r>
              <a:rPr lang="en-US" sz="1300" dirty="0">
                <a:solidFill>
                  <a:srgbClr val="C6D3D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Narrative-block library</a:t>
            </a:r>
            <a:endParaRPr lang="en-US" sz="1300" dirty="0"/>
          </a:p>
          <a:p>
            <a:pPr marL="342900" indent="-342900">
              <a:spcAft>
                <a:spcPts val="1000"/>
              </a:spcAft>
              <a:buSzPct val="100000"/>
              <a:buChar char="•"/>
            </a:pPr>
            <a:r>
              <a:rPr lang="en-US" sz="1300" dirty="0">
                <a:solidFill>
                  <a:srgbClr val="C6D3D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Framework cross-walk table</a:t>
            </a:r>
            <a:endParaRPr lang="en-US" sz="1300" dirty="0"/>
          </a:p>
        </p:txBody>
      </p:sp>
      <p:sp>
        <p:nvSpPr>
          <p:cNvPr id="8" name="Shape 6"/>
          <p:cNvSpPr/>
          <p:nvPr/>
        </p:nvSpPr>
        <p:spPr>
          <a:xfrm>
            <a:off x="4023360" y="2011680"/>
            <a:ext cx="7589520" cy="841248"/>
          </a:xfrm>
          <a:prstGeom prst="roundRect">
            <a:avLst>
              <a:gd name="adj" fmla="val 6522"/>
            </a:avLst>
          </a:prstGeom>
          <a:solidFill>
            <a:srgbClr val="F3F6F7"/>
          </a:solidFill>
          <a:ln w="9525">
            <a:solidFill>
              <a:srgbClr val="DCE4E6"/>
            </a:solidFill>
            <a:prstDash val="solid"/>
          </a:ln>
        </p:spPr>
      </p:sp>
      <p:sp>
        <p:nvSpPr>
          <p:cNvPr id="9" name="Shape 7"/>
          <p:cNvSpPr/>
          <p:nvPr/>
        </p:nvSpPr>
        <p:spPr>
          <a:xfrm>
            <a:off x="4251960" y="2212848"/>
            <a:ext cx="438912" cy="438912"/>
          </a:xfrm>
          <a:prstGeom prst="ellipse">
            <a:avLst/>
          </a:prstGeom>
          <a:solidFill>
            <a:srgbClr val="0091A8"/>
          </a:solidFill>
          <a:ln/>
        </p:spPr>
      </p:sp>
      <p:sp>
        <p:nvSpPr>
          <p:cNvPr id="10" name="Text 8"/>
          <p:cNvSpPr txBox="1"/>
          <p:nvPr/>
        </p:nvSpPr>
        <p:spPr>
          <a:xfrm>
            <a:off x="4251960" y="2212848"/>
            <a:ext cx="438912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A</a:t>
            </a:r>
            <a:endParaRPr lang="en-US" sz="1600" dirty="0"/>
          </a:p>
        </p:txBody>
      </p:sp>
      <p:sp>
        <p:nvSpPr>
          <p:cNvPr id="11" name="Text 9"/>
          <p:cNvSpPr txBox="1"/>
          <p:nvPr/>
        </p:nvSpPr>
        <p:spPr>
          <a:xfrm>
            <a:off x="4846320" y="2139696"/>
            <a:ext cx="27432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00647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Disclosure Pack</a:t>
            </a:r>
            <a:endParaRPr lang="en-US" sz="1500" dirty="0"/>
          </a:p>
        </p:txBody>
      </p:sp>
      <p:sp>
        <p:nvSpPr>
          <p:cNvPr id="12" name="Text 10"/>
          <p:cNvSpPr txBox="1"/>
          <p:nvPr/>
        </p:nvSpPr>
        <p:spPr>
          <a:xfrm>
            <a:off x="4846320" y="2450592"/>
            <a:ext cx="649224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5F6B6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full report. Company secretary, CFO, sustainability lead</a:t>
            </a:r>
            <a:endParaRPr lang="en-US" sz="1200" dirty="0"/>
          </a:p>
        </p:txBody>
      </p:sp>
      <p:sp>
        <p:nvSpPr>
          <p:cNvPr id="13" name="Shape 11"/>
          <p:cNvSpPr/>
          <p:nvPr/>
        </p:nvSpPr>
        <p:spPr>
          <a:xfrm>
            <a:off x="4023360" y="2980944"/>
            <a:ext cx="7589520" cy="841248"/>
          </a:xfrm>
          <a:prstGeom prst="roundRect">
            <a:avLst>
              <a:gd name="adj" fmla="val 6522"/>
            </a:avLst>
          </a:prstGeom>
          <a:solidFill>
            <a:srgbClr val="F3F6F7"/>
          </a:solidFill>
          <a:ln w="9525">
            <a:solidFill>
              <a:srgbClr val="DCE4E6"/>
            </a:solidFill>
            <a:prstDash val="solid"/>
          </a:ln>
        </p:spPr>
      </p:sp>
      <p:sp>
        <p:nvSpPr>
          <p:cNvPr id="14" name="Shape 12"/>
          <p:cNvSpPr/>
          <p:nvPr/>
        </p:nvSpPr>
        <p:spPr>
          <a:xfrm>
            <a:off x="4251960" y="3182112"/>
            <a:ext cx="438912" cy="438912"/>
          </a:xfrm>
          <a:prstGeom prst="ellipse">
            <a:avLst/>
          </a:prstGeom>
          <a:solidFill>
            <a:srgbClr val="0091A8"/>
          </a:solidFill>
          <a:ln/>
        </p:spPr>
      </p:sp>
      <p:sp>
        <p:nvSpPr>
          <p:cNvPr id="15" name="Text 13"/>
          <p:cNvSpPr txBox="1"/>
          <p:nvPr/>
        </p:nvSpPr>
        <p:spPr>
          <a:xfrm>
            <a:off x="4251960" y="3182112"/>
            <a:ext cx="438912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B</a:t>
            </a:r>
            <a:endParaRPr lang="en-US" sz="1600" dirty="0"/>
          </a:p>
        </p:txBody>
      </p:sp>
      <p:sp>
        <p:nvSpPr>
          <p:cNvPr id="16" name="Text 14"/>
          <p:cNvSpPr txBox="1"/>
          <p:nvPr/>
        </p:nvSpPr>
        <p:spPr>
          <a:xfrm>
            <a:off x="4846320" y="3108960"/>
            <a:ext cx="27432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00647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Board Strategy Pack</a:t>
            </a:r>
            <a:endParaRPr lang="en-US" sz="1500" dirty="0"/>
          </a:p>
        </p:txBody>
      </p:sp>
      <p:sp>
        <p:nvSpPr>
          <p:cNvPr id="17" name="Text 15"/>
          <p:cNvSpPr txBox="1"/>
          <p:nvPr/>
        </p:nvSpPr>
        <p:spPr>
          <a:xfrm>
            <a:off x="4846320" y="3419856"/>
            <a:ext cx="649224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5F6B6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12–18 pages. Score, materiality, gaps, decisions required</a:t>
            </a:r>
            <a:endParaRPr lang="en-US" sz="1200" dirty="0"/>
          </a:p>
        </p:txBody>
      </p:sp>
      <p:sp>
        <p:nvSpPr>
          <p:cNvPr id="18" name="Shape 16"/>
          <p:cNvSpPr/>
          <p:nvPr/>
        </p:nvSpPr>
        <p:spPr>
          <a:xfrm>
            <a:off x="4023360" y="3950208"/>
            <a:ext cx="7589520" cy="841248"/>
          </a:xfrm>
          <a:prstGeom prst="roundRect">
            <a:avLst>
              <a:gd name="adj" fmla="val 6522"/>
            </a:avLst>
          </a:prstGeom>
          <a:solidFill>
            <a:srgbClr val="F3F6F7"/>
          </a:solidFill>
          <a:ln w="9525">
            <a:solidFill>
              <a:srgbClr val="DCE4E6"/>
            </a:solidFill>
            <a:prstDash val="solid"/>
          </a:ln>
        </p:spPr>
      </p:sp>
      <p:sp>
        <p:nvSpPr>
          <p:cNvPr id="19" name="Shape 17"/>
          <p:cNvSpPr/>
          <p:nvPr/>
        </p:nvSpPr>
        <p:spPr>
          <a:xfrm>
            <a:off x="4251960" y="4151376"/>
            <a:ext cx="438912" cy="438912"/>
          </a:xfrm>
          <a:prstGeom prst="ellipse">
            <a:avLst/>
          </a:prstGeom>
          <a:solidFill>
            <a:srgbClr val="0091A8"/>
          </a:solidFill>
          <a:ln/>
        </p:spPr>
      </p:sp>
      <p:sp>
        <p:nvSpPr>
          <p:cNvPr id="20" name="Text 18"/>
          <p:cNvSpPr txBox="1"/>
          <p:nvPr/>
        </p:nvSpPr>
        <p:spPr>
          <a:xfrm>
            <a:off x="4251960" y="4151376"/>
            <a:ext cx="438912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C</a:t>
            </a:r>
            <a:endParaRPr lang="en-US" sz="1600" dirty="0"/>
          </a:p>
        </p:txBody>
      </p:sp>
      <p:sp>
        <p:nvSpPr>
          <p:cNvPr id="21" name="Text 19"/>
          <p:cNvSpPr txBox="1"/>
          <p:nvPr/>
        </p:nvSpPr>
        <p:spPr>
          <a:xfrm>
            <a:off x="4846320" y="4078224"/>
            <a:ext cx="27432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00647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Stakeholder One-Pager</a:t>
            </a:r>
            <a:endParaRPr lang="en-US" sz="1500" dirty="0"/>
          </a:p>
        </p:txBody>
      </p:sp>
      <p:sp>
        <p:nvSpPr>
          <p:cNvPr id="22" name="Text 20"/>
          <p:cNvSpPr txBox="1"/>
          <p:nvPr/>
        </p:nvSpPr>
        <p:spPr>
          <a:xfrm>
            <a:off x="4846320" y="4389120"/>
            <a:ext cx="649224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5F6B6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Supply-chain questionnaires, tender annexures, due diligence</a:t>
            </a:r>
            <a:endParaRPr lang="en-US" sz="1200" dirty="0"/>
          </a:p>
        </p:txBody>
      </p:sp>
      <p:sp>
        <p:nvSpPr>
          <p:cNvPr id="23" name="Shape 21"/>
          <p:cNvSpPr/>
          <p:nvPr/>
        </p:nvSpPr>
        <p:spPr>
          <a:xfrm>
            <a:off x="4023360" y="4919472"/>
            <a:ext cx="7589520" cy="841248"/>
          </a:xfrm>
          <a:prstGeom prst="roundRect">
            <a:avLst>
              <a:gd name="adj" fmla="val 6522"/>
            </a:avLst>
          </a:prstGeom>
          <a:solidFill>
            <a:srgbClr val="F3F6F7"/>
          </a:solidFill>
          <a:ln w="9525">
            <a:solidFill>
              <a:srgbClr val="DCE4E6"/>
            </a:solidFill>
            <a:prstDash val="solid"/>
          </a:ln>
        </p:spPr>
      </p:sp>
      <p:sp>
        <p:nvSpPr>
          <p:cNvPr id="24" name="Shape 22"/>
          <p:cNvSpPr/>
          <p:nvPr/>
        </p:nvSpPr>
        <p:spPr>
          <a:xfrm>
            <a:off x="4251960" y="5120640"/>
            <a:ext cx="438912" cy="438912"/>
          </a:xfrm>
          <a:prstGeom prst="ellipse">
            <a:avLst/>
          </a:prstGeom>
          <a:solidFill>
            <a:srgbClr val="0091A8"/>
          </a:solidFill>
          <a:ln/>
        </p:spPr>
      </p:sp>
      <p:sp>
        <p:nvSpPr>
          <p:cNvPr id="25" name="Text 23"/>
          <p:cNvSpPr txBox="1"/>
          <p:nvPr/>
        </p:nvSpPr>
        <p:spPr>
          <a:xfrm>
            <a:off x="4251960" y="5120640"/>
            <a:ext cx="438912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D</a:t>
            </a:r>
            <a:endParaRPr lang="en-US" sz="1600" dirty="0"/>
          </a:p>
        </p:txBody>
      </p:sp>
      <p:sp>
        <p:nvSpPr>
          <p:cNvPr id="26" name="Text 24"/>
          <p:cNvSpPr txBox="1"/>
          <p:nvPr/>
        </p:nvSpPr>
        <p:spPr>
          <a:xfrm>
            <a:off x="4846320" y="5047488"/>
            <a:ext cx="27432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00647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Data Book</a:t>
            </a:r>
            <a:endParaRPr lang="en-US" sz="1500" dirty="0"/>
          </a:p>
        </p:txBody>
      </p:sp>
      <p:sp>
        <p:nvSpPr>
          <p:cNvPr id="27" name="Text 25"/>
          <p:cNvSpPr txBox="1"/>
          <p:nvPr/>
        </p:nvSpPr>
        <p:spPr>
          <a:xfrm>
            <a:off x="4846320" y="5358384"/>
            <a:ext cx="649224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5F6B6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Full metric register, calculations, factors, restatements</a:t>
            </a:r>
            <a:endParaRPr lang="en-US" sz="1200" dirty="0"/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310896"/>
            <a:ext cx="110642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200" kern="0" dirty="0">
                <a:solidFill>
                  <a:srgbClr val="0091A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SINGLE MOST IMPORTANT DESIGN DECISION</a:t>
            </a:r>
            <a:endParaRPr lang="en-US" sz="1100" dirty="0"/>
          </a:p>
        </p:txBody>
      </p:sp>
      <p:sp>
        <p:nvSpPr>
          <p:cNvPr id="3" name="Text 1"/>
          <p:cNvSpPr txBox="1"/>
          <p:nvPr/>
        </p:nvSpPr>
        <p:spPr>
          <a:xfrm>
            <a:off x="548640" y="566928"/>
            <a:ext cx="11064240" cy="7132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900" b="1" dirty="0">
                <a:solidFill>
                  <a:srgbClr val="00647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The metric record schema</a:t>
            </a:r>
            <a:endParaRPr lang="en-US" sz="2900" dirty="0"/>
          </a:p>
        </p:txBody>
      </p:sp>
      <p:graphicFrame>
        <p:nvGraphicFramePr>
          <p:cNvPr id="16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548640" y="1691640"/>
          <a:ext cx="11064240" cy="914400"/>
        </p:xfrm>
        <a:graphic>
          <a:graphicData uri="http://schemas.openxmlformats.org/drawingml/2006/table">
            <a:tbl>
              <a:tblPr/>
              <a:tblGrid>
                <a:gridCol w="1737360"/>
                <a:gridCol w="5029200"/>
                <a:gridCol w="4297680"/>
              </a:tblGrid>
              <a:tr h="530352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Field group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5DE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E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E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E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647A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Fields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5DE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E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E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E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647A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Why it earns its place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5DE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E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E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E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647A"/>
                    </a:solidFill>
                  </a:tcPr>
                </a:tc>
              </a:tr>
              <a:tr h="530352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50" dirty="0">
                          <a:solidFill>
                            <a:srgbClr val="22282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Identity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5DE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E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E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E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50" dirty="0">
                          <a:solidFill>
                            <a:srgbClr val="22282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metric_id · topic · subtopic · tier · metric_name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5DE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E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E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E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50" dirty="0">
                          <a:solidFill>
                            <a:srgbClr val="22282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Stable across years; drives the framework cross-walk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5DE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E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E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E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530352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50" dirty="0">
                          <a:solidFill>
                            <a:srgbClr val="22282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Value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5DE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E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E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E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50" dirty="0">
                          <a:solidFill>
                            <a:srgbClr val="22282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value · unit · period · boundary · entities_included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5DE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E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E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E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50" dirty="0">
                          <a:solidFill>
                            <a:srgbClr val="22282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A number without a boundary is not a disclosure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5DE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E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E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E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530352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50" dirty="0">
                          <a:solidFill>
                            <a:srgbClr val="22282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Provenance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5DE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E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E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E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50" dirty="0">
                          <a:solidFill>
                            <a:srgbClr val="22282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source_system · source_owner · calculation_method · emission_factor + source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5DE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E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E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E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50" dirty="0">
                          <a:solidFill>
                            <a:srgbClr val="22282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This is what an assurance provider asks for first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5DE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E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E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E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530352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50" dirty="0">
                          <a:solidFill>
                            <a:srgbClr val="22282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Confidence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5DE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E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E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E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50" dirty="0">
                          <a:solidFill>
                            <a:srgbClr val="22282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data_quality_score · assurance_status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5DE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E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E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E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50" dirty="0">
                          <a:solidFill>
                            <a:srgbClr val="22282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Disclosed per metric and rolled up to a report-level index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5DE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E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E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E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530352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50" dirty="0">
                          <a:solidFill>
                            <a:srgbClr val="22282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Continuity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5DE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E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E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E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50" dirty="0">
                          <a:solidFill>
                            <a:srgbClr val="22282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prior_year_value · restated · restatement_reason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5DE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E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E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E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50" dirty="0">
                          <a:solidFill>
                            <a:srgbClr val="22282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Silent restatement becomes impossible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5DE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E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E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E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530352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50" dirty="0">
                          <a:solidFill>
                            <a:srgbClr val="22282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Direction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5DE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E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E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E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50" dirty="0">
                          <a:solidFill>
                            <a:srgbClr val="22282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target_value · target_year · variance · rag_status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5DE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E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E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E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50" dirty="0">
                          <a:solidFill>
                            <a:srgbClr val="22282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Turns a record into a management tool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5DE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E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E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E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530352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50" dirty="0">
                          <a:solidFill>
                            <a:srgbClr val="22282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Integrity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5DE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E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E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E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50" dirty="0">
                          <a:solidFill>
                            <a:srgbClr val="22282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omission_reason · evidence_ids · commentary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5DE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E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E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E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50" dirty="0">
                          <a:solidFill>
                            <a:srgbClr val="22282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No claim renders without bound evidence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5DE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E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E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E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6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310896"/>
            <a:ext cx="110642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200" kern="0" dirty="0">
                <a:solidFill>
                  <a:srgbClr val="0091A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RENDERING A, PART ONE</a:t>
            </a:r>
            <a:endParaRPr lang="en-US" sz="1100" dirty="0"/>
          </a:p>
        </p:txBody>
      </p:sp>
      <p:sp>
        <p:nvSpPr>
          <p:cNvPr id="3" name="Text 1"/>
          <p:cNvSpPr txBox="1"/>
          <p:nvPr/>
        </p:nvSpPr>
        <p:spPr>
          <a:xfrm>
            <a:off x="548640" y="566928"/>
            <a:ext cx="11064240" cy="7132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900" b="1" dirty="0">
                <a:solidFill>
                  <a:srgbClr val="00647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Report structure — front matter and strategy</a:t>
            </a:r>
            <a:endParaRPr lang="en-US" sz="2900" dirty="0"/>
          </a:p>
        </p:txBody>
      </p:sp>
      <p:sp>
        <p:nvSpPr>
          <p:cNvPr id="4" name="Shape 2"/>
          <p:cNvSpPr/>
          <p:nvPr/>
        </p:nvSpPr>
        <p:spPr>
          <a:xfrm>
            <a:off x="548640" y="1600200"/>
            <a:ext cx="11064240" cy="667512"/>
          </a:xfrm>
          <a:prstGeom prst="roundRect">
            <a:avLst>
              <a:gd name="adj" fmla="val 8219"/>
            </a:avLst>
          </a:prstGeom>
          <a:solidFill>
            <a:srgbClr val="F3F6F7"/>
          </a:solidFill>
          <a:ln w="9525">
            <a:solidFill>
              <a:srgbClr val="DCE4E6"/>
            </a:solidFill>
            <a:prstDash val="solid"/>
          </a:ln>
        </p:spPr>
      </p:sp>
      <p:sp>
        <p:nvSpPr>
          <p:cNvPr id="5" name="Text 3"/>
          <p:cNvSpPr txBox="1"/>
          <p:nvPr/>
        </p:nvSpPr>
        <p:spPr>
          <a:xfrm>
            <a:off x="777240" y="1783080"/>
            <a:ext cx="7772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0091A8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F1–F4</a:t>
            </a:r>
            <a:endParaRPr lang="en-US" sz="1500" dirty="0"/>
          </a:p>
        </p:txBody>
      </p:sp>
      <p:sp>
        <p:nvSpPr>
          <p:cNvPr id="6" name="Text 4"/>
          <p:cNvSpPr txBox="1"/>
          <p:nvPr/>
        </p:nvSpPr>
        <p:spPr>
          <a:xfrm>
            <a:off x="1600200" y="1719072"/>
            <a:ext cx="26517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00647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Front matter</a:t>
            </a:r>
            <a:endParaRPr lang="en-US" sz="1400" dirty="0"/>
          </a:p>
        </p:txBody>
      </p:sp>
      <p:sp>
        <p:nvSpPr>
          <p:cNvPr id="7" name="Text 5"/>
          <p:cNvSpPr txBox="1"/>
          <p:nvPr/>
        </p:nvSpPr>
        <p:spPr>
          <a:xfrm>
            <a:off x="4343400" y="1691640"/>
            <a:ext cx="7040880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5F6B6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Cover · About this report (scope, boundary, basis of preparation, provenance, assurance, restatements, sign-off) · How to use · Disclosure index</a:t>
            </a:r>
            <a:endParaRPr lang="en-US" sz="1150" dirty="0"/>
          </a:p>
        </p:txBody>
      </p:sp>
      <p:sp>
        <p:nvSpPr>
          <p:cNvPr id="8" name="Shape 6"/>
          <p:cNvSpPr/>
          <p:nvPr/>
        </p:nvSpPr>
        <p:spPr>
          <a:xfrm>
            <a:off x="548640" y="2359152"/>
            <a:ext cx="11064240" cy="667512"/>
          </a:xfrm>
          <a:prstGeom prst="roundRect">
            <a:avLst>
              <a:gd name="adj" fmla="val 8219"/>
            </a:avLst>
          </a:prstGeom>
          <a:solidFill>
            <a:srgbClr val="F3F6F7"/>
          </a:solidFill>
          <a:ln w="9525">
            <a:solidFill>
              <a:srgbClr val="DCE4E6"/>
            </a:solidFill>
            <a:prstDash val="solid"/>
          </a:ln>
        </p:spPr>
      </p:sp>
      <p:sp>
        <p:nvSpPr>
          <p:cNvPr id="9" name="Text 7"/>
          <p:cNvSpPr txBox="1"/>
          <p:nvPr/>
        </p:nvSpPr>
        <p:spPr>
          <a:xfrm>
            <a:off x="777240" y="2542032"/>
            <a:ext cx="7772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0091A8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1</a:t>
            </a:r>
            <a:endParaRPr lang="en-US" sz="1500" dirty="0"/>
          </a:p>
        </p:txBody>
      </p:sp>
      <p:sp>
        <p:nvSpPr>
          <p:cNvPr id="10" name="Text 8"/>
          <p:cNvSpPr txBox="1"/>
          <p:nvPr/>
        </p:nvSpPr>
        <p:spPr>
          <a:xfrm>
            <a:off x="1600200" y="2478024"/>
            <a:ext cx="26517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00647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Executive summary</a:t>
            </a:r>
            <a:endParaRPr lang="en-US" sz="1400" dirty="0"/>
          </a:p>
        </p:txBody>
      </p:sp>
      <p:sp>
        <p:nvSpPr>
          <p:cNvPr id="11" name="Text 9"/>
          <p:cNvSpPr txBox="1"/>
          <p:nvPr/>
        </p:nvSpPr>
        <p:spPr>
          <a:xfrm>
            <a:off x="4343400" y="2450592"/>
            <a:ext cx="7040880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5F6B6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Maturity position · Performance dashboard · What changed · Decisions required of the board</a:t>
            </a:r>
            <a:endParaRPr lang="en-US" sz="1150" dirty="0"/>
          </a:p>
        </p:txBody>
      </p:sp>
      <p:sp>
        <p:nvSpPr>
          <p:cNvPr id="12" name="Shape 10"/>
          <p:cNvSpPr/>
          <p:nvPr/>
        </p:nvSpPr>
        <p:spPr>
          <a:xfrm>
            <a:off x="548640" y="3118104"/>
            <a:ext cx="11064240" cy="667512"/>
          </a:xfrm>
          <a:prstGeom prst="roundRect">
            <a:avLst>
              <a:gd name="adj" fmla="val 8219"/>
            </a:avLst>
          </a:prstGeom>
          <a:solidFill>
            <a:srgbClr val="F3F6F7"/>
          </a:solidFill>
          <a:ln w="9525">
            <a:solidFill>
              <a:srgbClr val="DCE4E6"/>
            </a:solidFill>
            <a:prstDash val="solid"/>
          </a:ln>
        </p:spPr>
      </p:sp>
      <p:sp>
        <p:nvSpPr>
          <p:cNvPr id="13" name="Text 11"/>
          <p:cNvSpPr txBox="1"/>
          <p:nvPr/>
        </p:nvSpPr>
        <p:spPr>
          <a:xfrm>
            <a:off x="777240" y="3300984"/>
            <a:ext cx="7772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0091A8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2</a:t>
            </a:r>
            <a:endParaRPr lang="en-US" sz="1500" dirty="0"/>
          </a:p>
        </p:txBody>
      </p:sp>
      <p:sp>
        <p:nvSpPr>
          <p:cNvPr id="14" name="Text 12"/>
          <p:cNvSpPr txBox="1"/>
          <p:nvPr/>
        </p:nvSpPr>
        <p:spPr>
          <a:xfrm>
            <a:off x="1600200" y="3236976"/>
            <a:ext cx="26517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00647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Operating and regulatory context</a:t>
            </a:r>
            <a:endParaRPr lang="en-US" sz="1400" dirty="0"/>
          </a:p>
        </p:txBody>
      </p:sp>
      <p:sp>
        <p:nvSpPr>
          <p:cNvPr id="15" name="Text 13"/>
          <p:cNvSpPr txBox="1"/>
          <p:nvPr/>
        </p:nvSpPr>
        <p:spPr>
          <a:xfrm>
            <a:off x="4343400" y="3209544"/>
            <a:ext cx="7040880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5F6B6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SA regulatory horizon · 24-month compliance calendar · Value chain pressure · Peer position</a:t>
            </a:r>
            <a:endParaRPr lang="en-US" sz="1150" dirty="0"/>
          </a:p>
        </p:txBody>
      </p:sp>
      <p:sp>
        <p:nvSpPr>
          <p:cNvPr id="16" name="Shape 14"/>
          <p:cNvSpPr/>
          <p:nvPr/>
        </p:nvSpPr>
        <p:spPr>
          <a:xfrm>
            <a:off x="548640" y="3877056"/>
            <a:ext cx="11064240" cy="667512"/>
          </a:xfrm>
          <a:prstGeom prst="roundRect">
            <a:avLst>
              <a:gd name="adj" fmla="val 8219"/>
            </a:avLst>
          </a:prstGeom>
          <a:solidFill>
            <a:srgbClr val="F3F6F7"/>
          </a:solidFill>
          <a:ln w="9525">
            <a:solidFill>
              <a:srgbClr val="DCE4E6"/>
            </a:solidFill>
            <a:prstDash val="solid"/>
          </a:ln>
        </p:spPr>
      </p:sp>
      <p:sp>
        <p:nvSpPr>
          <p:cNvPr id="17" name="Text 15"/>
          <p:cNvSpPr txBox="1"/>
          <p:nvPr/>
        </p:nvSpPr>
        <p:spPr>
          <a:xfrm>
            <a:off x="777240" y="4059936"/>
            <a:ext cx="7772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0091A8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3</a:t>
            </a:r>
            <a:endParaRPr lang="en-US" sz="1500" dirty="0"/>
          </a:p>
        </p:txBody>
      </p:sp>
      <p:sp>
        <p:nvSpPr>
          <p:cNvPr id="18" name="Text 16"/>
          <p:cNvSpPr txBox="1"/>
          <p:nvPr/>
        </p:nvSpPr>
        <p:spPr>
          <a:xfrm>
            <a:off x="1600200" y="3995928"/>
            <a:ext cx="26517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00647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Governance</a:t>
            </a:r>
            <a:endParaRPr lang="en-US" sz="1400" dirty="0"/>
          </a:p>
        </p:txBody>
      </p:sp>
      <p:sp>
        <p:nvSpPr>
          <p:cNvPr id="19" name="Text 17"/>
          <p:cNvSpPr txBox="1"/>
          <p:nvPr/>
        </p:nvSpPr>
        <p:spPr>
          <a:xfrm>
            <a:off x="4343400" y="3968496"/>
            <a:ext cx="7040880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5F6B6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Board oversight · Management accountability · Risk integration · Remuneration · Social and Ethics Committee report</a:t>
            </a:r>
            <a:endParaRPr lang="en-US" sz="1150" dirty="0"/>
          </a:p>
        </p:txBody>
      </p:sp>
      <p:sp>
        <p:nvSpPr>
          <p:cNvPr id="20" name="Shape 18"/>
          <p:cNvSpPr/>
          <p:nvPr/>
        </p:nvSpPr>
        <p:spPr>
          <a:xfrm>
            <a:off x="548640" y="4636008"/>
            <a:ext cx="11064240" cy="667512"/>
          </a:xfrm>
          <a:prstGeom prst="roundRect">
            <a:avLst>
              <a:gd name="adj" fmla="val 8219"/>
            </a:avLst>
          </a:prstGeom>
          <a:solidFill>
            <a:srgbClr val="F3F6F7"/>
          </a:solidFill>
          <a:ln w="9525">
            <a:solidFill>
              <a:srgbClr val="DCE4E6"/>
            </a:solidFill>
            <a:prstDash val="solid"/>
          </a:ln>
        </p:spPr>
      </p:sp>
      <p:sp>
        <p:nvSpPr>
          <p:cNvPr id="21" name="Text 19"/>
          <p:cNvSpPr txBox="1"/>
          <p:nvPr/>
        </p:nvSpPr>
        <p:spPr>
          <a:xfrm>
            <a:off x="777240" y="4818888"/>
            <a:ext cx="7772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0091A8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4</a:t>
            </a:r>
            <a:endParaRPr lang="en-US" sz="1500" dirty="0"/>
          </a:p>
        </p:txBody>
      </p:sp>
      <p:sp>
        <p:nvSpPr>
          <p:cNvPr id="22" name="Text 20"/>
          <p:cNvSpPr txBox="1"/>
          <p:nvPr/>
        </p:nvSpPr>
        <p:spPr>
          <a:xfrm>
            <a:off x="1600200" y="4754880"/>
            <a:ext cx="26517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00647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Materiality</a:t>
            </a:r>
            <a:endParaRPr lang="en-US" sz="1400" dirty="0"/>
          </a:p>
        </p:txBody>
      </p:sp>
      <p:sp>
        <p:nvSpPr>
          <p:cNvPr id="23" name="Text 21"/>
          <p:cNvSpPr txBox="1"/>
          <p:nvPr/>
        </p:nvSpPr>
        <p:spPr>
          <a:xfrm>
            <a:off x="4343400" y="4727448"/>
            <a:ext cx="7040880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5F6B6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Method (double or single) · Stakeholder engagement · Material matters · Changes since prior period</a:t>
            </a:r>
            <a:endParaRPr lang="en-US" sz="1150" dirty="0"/>
          </a:p>
        </p:txBody>
      </p:sp>
      <p:sp>
        <p:nvSpPr>
          <p:cNvPr id="24" name="Shape 22"/>
          <p:cNvSpPr/>
          <p:nvPr/>
        </p:nvSpPr>
        <p:spPr>
          <a:xfrm>
            <a:off x="548640" y="5394960"/>
            <a:ext cx="11064240" cy="667512"/>
          </a:xfrm>
          <a:prstGeom prst="roundRect">
            <a:avLst>
              <a:gd name="adj" fmla="val 8219"/>
            </a:avLst>
          </a:prstGeom>
          <a:solidFill>
            <a:srgbClr val="F3F6F7"/>
          </a:solidFill>
          <a:ln w="9525">
            <a:solidFill>
              <a:srgbClr val="DCE4E6"/>
            </a:solidFill>
            <a:prstDash val="solid"/>
          </a:ln>
        </p:spPr>
      </p:sp>
      <p:sp>
        <p:nvSpPr>
          <p:cNvPr id="25" name="Text 23"/>
          <p:cNvSpPr txBox="1"/>
          <p:nvPr/>
        </p:nvSpPr>
        <p:spPr>
          <a:xfrm>
            <a:off x="777240" y="5577840"/>
            <a:ext cx="7772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0091A8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5</a:t>
            </a:r>
            <a:endParaRPr lang="en-US" sz="1500" dirty="0"/>
          </a:p>
        </p:txBody>
      </p:sp>
      <p:sp>
        <p:nvSpPr>
          <p:cNvPr id="26" name="Text 24"/>
          <p:cNvSpPr txBox="1"/>
          <p:nvPr/>
        </p:nvSpPr>
        <p:spPr>
          <a:xfrm>
            <a:off x="1600200" y="5513832"/>
            <a:ext cx="26517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00647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Strategy and value creation</a:t>
            </a:r>
            <a:endParaRPr lang="en-US" sz="1400" dirty="0"/>
          </a:p>
        </p:txBody>
      </p:sp>
      <p:sp>
        <p:nvSpPr>
          <p:cNvPr id="27" name="Text 25"/>
          <p:cNvSpPr txBox="1"/>
          <p:nvPr/>
        </p:nvSpPr>
        <p:spPr>
          <a:xfrm>
            <a:off x="4343400" y="5486400"/>
            <a:ext cx="7040880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5F6B6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Commitments · Link to business strategy · Transition plan · Investment and resourcing</a:t>
            </a:r>
            <a:endParaRPr lang="en-US" sz="1150" dirty="0"/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7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310896"/>
            <a:ext cx="110642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200" kern="0" dirty="0">
                <a:solidFill>
                  <a:srgbClr val="0091A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RENDERING A, PART TWO</a:t>
            </a:r>
            <a:endParaRPr lang="en-US" sz="1100" dirty="0"/>
          </a:p>
        </p:txBody>
      </p:sp>
      <p:sp>
        <p:nvSpPr>
          <p:cNvPr id="3" name="Text 1"/>
          <p:cNvSpPr txBox="1"/>
          <p:nvPr/>
        </p:nvSpPr>
        <p:spPr>
          <a:xfrm>
            <a:off x="548640" y="566928"/>
            <a:ext cx="11064240" cy="7132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900" b="1" dirty="0">
                <a:solidFill>
                  <a:srgbClr val="00647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Report structure — performance and action</a:t>
            </a:r>
            <a:endParaRPr lang="en-US" sz="2900" dirty="0"/>
          </a:p>
        </p:txBody>
      </p:sp>
      <p:sp>
        <p:nvSpPr>
          <p:cNvPr id="4" name="Shape 2"/>
          <p:cNvSpPr/>
          <p:nvPr/>
        </p:nvSpPr>
        <p:spPr>
          <a:xfrm>
            <a:off x="548640" y="1600200"/>
            <a:ext cx="11064240" cy="667512"/>
          </a:xfrm>
          <a:prstGeom prst="roundRect">
            <a:avLst>
              <a:gd name="adj" fmla="val 8219"/>
            </a:avLst>
          </a:prstGeom>
          <a:solidFill>
            <a:srgbClr val="F3F6F7"/>
          </a:solidFill>
          <a:ln w="9525">
            <a:solidFill>
              <a:srgbClr val="DCE4E6"/>
            </a:solidFill>
            <a:prstDash val="solid"/>
          </a:ln>
        </p:spPr>
      </p:sp>
      <p:sp>
        <p:nvSpPr>
          <p:cNvPr id="5" name="Text 3"/>
          <p:cNvSpPr txBox="1"/>
          <p:nvPr/>
        </p:nvSpPr>
        <p:spPr>
          <a:xfrm>
            <a:off x="777240" y="1783080"/>
            <a:ext cx="7772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0091A8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6</a:t>
            </a:r>
            <a:endParaRPr lang="en-US" sz="1500" dirty="0"/>
          </a:p>
        </p:txBody>
      </p:sp>
      <p:sp>
        <p:nvSpPr>
          <p:cNvPr id="6" name="Text 4"/>
          <p:cNvSpPr txBox="1"/>
          <p:nvPr/>
        </p:nvSpPr>
        <p:spPr>
          <a:xfrm>
            <a:off x="1600200" y="1719072"/>
            <a:ext cx="26517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00647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Environmental performance</a:t>
            </a:r>
            <a:endParaRPr lang="en-US" sz="1400" dirty="0"/>
          </a:p>
        </p:txBody>
      </p:sp>
      <p:sp>
        <p:nvSpPr>
          <p:cNvPr id="7" name="Text 5"/>
          <p:cNvSpPr txBox="1"/>
          <p:nvPr/>
        </p:nvSpPr>
        <p:spPr>
          <a:xfrm>
            <a:off x="4343400" y="1691640"/>
            <a:ext cx="7040880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5F6B6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GHG scope 1, 2 and 3 · Energy · Water · Waste · Biodiversity · Pollution · Supply chain · Just transition</a:t>
            </a:r>
            <a:endParaRPr lang="en-US" sz="1150" dirty="0"/>
          </a:p>
        </p:txBody>
      </p:sp>
      <p:sp>
        <p:nvSpPr>
          <p:cNvPr id="8" name="Shape 6"/>
          <p:cNvSpPr/>
          <p:nvPr/>
        </p:nvSpPr>
        <p:spPr>
          <a:xfrm>
            <a:off x="548640" y="2359152"/>
            <a:ext cx="11064240" cy="667512"/>
          </a:xfrm>
          <a:prstGeom prst="roundRect">
            <a:avLst>
              <a:gd name="adj" fmla="val 8219"/>
            </a:avLst>
          </a:prstGeom>
          <a:solidFill>
            <a:srgbClr val="F3F6F7"/>
          </a:solidFill>
          <a:ln w="9525">
            <a:solidFill>
              <a:srgbClr val="DCE4E6"/>
            </a:solidFill>
            <a:prstDash val="solid"/>
          </a:ln>
        </p:spPr>
      </p:sp>
      <p:sp>
        <p:nvSpPr>
          <p:cNvPr id="9" name="Text 7"/>
          <p:cNvSpPr txBox="1"/>
          <p:nvPr/>
        </p:nvSpPr>
        <p:spPr>
          <a:xfrm>
            <a:off x="777240" y="2542032"/>
            <a:ext cx="7772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0091A8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7</a:t>
            </a:r>
            <a:endParaRPr lang="en-US" sz="1500" dirty="0"/>
          </a:p>
        </p:txBody>
      </p:sp>
      <p:sp>
        <p:nvSpPr>
          <p:cNvPr id="10" name="Text 8"/>
          <p:cNvSpPr txBox="1"/>
          <p:nvPr/>
        </p:nvSpPr>
        <p:spPr>
          <a:xfrm>
            <a:off x="1600200" y="2478024"/>
            <a:ext cx="26517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00647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Social performance</a:t>
            </a:r>
            <a:endParaRPr lang="en-US" sz="1400" dirty="0"/>
          </a:p>
        </p:txBody>
      </p:sp>
      <p:sp>
        <p:nvSpPr>
          <p:cNvPr id="11" name="Text 9"/>
          <p:cNvSpPr txBox="1"/>
          <p:nvPr/>
        </p:nvSpPr>
        <p:spPr>
          <a:xfrm>
            <a:off x="4343400" y="2450592"/>
            <a:ext cx="7040880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5F6B6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Workforce · DEI and EE · Pay equality · Skills · ESD · Health and safety · Labour · Community · SED</a:t>
            </a:r>
            <a:endParaRPr lang="en-US" sz="1150" dirty="0"/>
          </a:p>
        </p:txBody>
      </p:sp>
      <p:sp>
        <p:nvSpPr>
          <p:cNvPr id="12" name="Shape 10"/>
          <p:cNvSpPr/>
          <p:nvPr/>
        </p:nvSpPr>
        <p:spPr>
          <a:xfrm>
            <a:off x="548640" y="3118104"/>
            <a:ext cx="11064240" cy="667512"/>
          </a:xfrm>
          <a:prstGeom prst="roundRect">
            <a:avLst>
              <a:gd name="adj" fmla="val 8219"/>
            </a:avLst>
          </a:prstGeom>
          <a:solidFill>
            <a:srgbClr val="F3F6F7"/>
          </a:solidFill>
          <a:ln w="9525">
            <a:solidFill>
              <a:srgbClr val="DCE4E6"/>
            </a:solidFill>
            <a:prstDash val="solid"/>
          </a:ln>
        </p:spPr>
      </p:sp>
      <p:sp>
        <p:nvSpPr>
          <p:cNvPr id="13" name="Text 11"/>
          <p:cNvSpPr txBox="1"/>
          <p:nvPr/>
        </p:nvSpPr>
        <p:spPr>
          <a:xfrm>
            <a:off x="777240" y="3300984"/>
            <a:ext cx="7772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0091A8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8</a:t>
            </a:r>
            <a:endParaRPr lang="en-US" sz="1500" dirty="0"/>
          </a:p>
        </p:txBody>
      </p:sp>
      <p:sp>
        <p:nvSpPr>
          <p:cNvPr id="14" name="Text 12"/>
          <p:cNvSpPr txBox="1"/>
          <p:nvPr/>
        </p:nvSpPr>
        <p:spPr>
          <a:xfrm>
            <a:off x="1600200" y="3236976"/>
            <a:ext cx="26517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00647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Governance metrics</a:t>
            </a:r>
            <a:endParaRPr lang="en-US" sz="1400" dirty="0"/>
          </a:p>
        </p:txBody>
      </p:sp>
      <p:sp>
        <p:nvSpPr>
          <p:cNvPr id="15" name="Text 13"/>
          <p:cNvSpPr txBox="1"/>
          <p:nvPr/>
        </p:nvSpPr>
        <p:spPr>
          <a:xfrm>
            <a:off x="4343400" y="3209544"/>
            <a:ext cx="7040880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5F6B6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Board composition · Ethics and anti-corruption · Incidents and fines · Tax transparency · Lobbying</a:t>
            </a:r>
            <a:endParaRPr lang="en-US" sz="1150" dirty="0"/>
          </a:p>
        </p:txBody>
      </p:sp>
      <p:sp>
        <p:nvSpPr>
          <p:cNvPr id="16" name="Shape 14"/>
          <p:cNvSpPr/>
          <p:nvPr/>
        </p:nvSpPr>
        <p:spPr>
          <a:xfrm>
            <a:off x="548640" y="3877056"/>
            <a:ext cx="11064240" cy="667512"/>
          </a:xfrm>
          <a:prstGeom prst="roundRect">
            <a:avLst>
              <a:gd name="adj" fmla="val 8219"/>
            </a:avLst>
          </a:prstGeom>
          <a:solidFill>
            <a:srgbClr val="F3F6F7"/>
          </a:solidFill>
          <a:ln w="9525">
            <a:solidFill>
              <a:srgbClr val="DCE4E6"/>
            </a:solidFill>
            <a:prstDash val="solid"/>
          </a:ln>
        </p:spPr>
      </p:sp>
      <p:sp>
        <p:nvSpPr>
          <p:cNvPr id="17" name="Text 15"/>
          <p:cNvSpPr txBox="1"/>
          <p:nvPr/>
        </p:nvSpPr>
        <p:spPr>
          <a:xfrm>
            <a:off x="777240" y="4059936"/>
            <a:ext cx="7772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0091A8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9</a:t>
            </a:r>
            <a:endParaRPr lang="en-US" sz="1500" dirty="0"/>
          </a:p>
        </p:txBody>
      </p:sp>
      <p:sp>
        <p:nvSpPr>
          <p:cNvPr id="18" name="Text 16"/>
          <p:cNvSpPr txBox="1"/>
          <p:nvPr/>
        </p:nvSpPr>
        <p:spPr>
          <a:xfrm>
            <a:off x="1600200" y="3995928"/>
            <a:ext cx="26517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00647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Metrics, targets and performance</a:t>
            </a:r>
            <a:endParaRPr lang="en-US" sz="1400" dirty="0"/>
          </a:p>
        </p:txBody>
      </p:sp>
      <p:sp>
        <p:nvSpPr>
          <p:cNvPr id="19" name="Text 17"/>
          <p:cNvSpPr txBox="1"/>
          <p:nvPr/>
        </p:nvSpPr>
        <p:spPr>
          <a:xfrm>
            <a:off x="4343400" y="3968496"/>
            <a:ext cx="7040880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5F6B6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Consolidated KPI table: baseline, current, target, trajectory, RAG, quality, assurance, owner</a:t>
            </a:r>
            <a:endParaRPr lang="en-US" sz="1150" dirty="0"/>
          </a:p>
        </p:txBody>
      </p:sp>
      <p:sp>
        <p:nvSpPr>
          <p:cNvPr id="20" name="Shape 18"/>
          <p:cNvSpPr/>
          <p:nvPr/>
        </p:nvSpPr>
        <p:spPr>
          <a:xfrm>
            <a:off x="548640" y="4636008"/>
            <a:ext cx="11064240" cy="667512"/>
          </a:xfrm>
          <a:prstGeom prst="roundRect">
            <a:avLst>
              <a:gd name="adj" fmla="val 8219"/>
            </a:avLst>
          </a:prstGeom>
          <a:solidFill>
            <a:srgbClr val="E9F3F5"/>
          </a:solidFill>
          <a:ln w="9525">
            <a:solidFill>
              <a:srgbClr val="E9F3F5"/>
            </a:solidFill>
            <a:prstDash val="solid"/>
          </a:ln>
        </p:spPr>
      </p:sp>
      <p:sp>
        <p:nvSpPr>
          <p:cNvPr id="21" name="Text 19"/>
          <p:cNvSpPr txBox="1"/>
          <p:nvPr/>
        </p:nvSpPr>
        <p:spPr>
          <a:xfrm>
            <a:off x="777240" y="4818888"/>
            <a:ext cx="7772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0091A8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10</a:t>
            </a:r>
            <a:endParaRPr lang="en-US" sz="1500" dirty="0"/>
          </a:p>
        </p:txBody>
      </p:sp>
      <p:sp>
        <p:nvSpPr>
          <p:cNvPr id="22" name="Text 20"/>
          <p:cNvSpPr txBox="1"/>
          <p:nvPr/>
        </p:nvSpPr>
        <p:spPr>
          <a:xfrm>
            <a:off x="1600200" y="4754880"/>
            <a:ext cx="26517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00647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Gap register and assurance readiness</a:t>
            </a:r>
            <a:endParaRPr lang="en-US" sz="1400" dirty="0"/>
          </a:p>
        </p:txBody>
      </p:sp>
      <p:sp>
        <p:nvSpPr>
          <p:cNvPr id="23" name="Text 21"/>
          <p:cNvSpPr txBox="1"/>
          <p:nvPr/>
        </p:nvSpPr>
        <p:spPr>
          <a:xfrm>
            <a:off x="4343400" y="4727448"/>
            <a:ext cx="7040880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5F6B6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Every omission and low-quality metric, costed. Readiness rated per topic.</a:t>
            </a:r>
            <a:endParaRPr lang="en-US" sz="1150" dirty="0"/>
          </a:p>
        </p:txBody>
      </p:sp>
      <p:sp>
        <p:nvSpPr>
          <p:cNvPr id="24" name="Shape 22"/>
          <p:cNvSpPr/>
          <p:nvPr/>
        </p:nvSpPr>
        <p:spPr>
          <a:xfrm>
            <a:off x="548640" y="5394960"/>
            <a:ext cx="11064240" cy="667512"/>
          </a:xfrm>
          <a:prstGeom prst="roundRect">
            <a:avLst>
              <a:gd name="adj" fmla="val 8219"/>
            </a:avLst>
          </a:prstGeom>
          <a:solidFill>
            <a:srgbClr val="E9F3F5"/>
          </a:solidFill>
          <a:ln w="9525">
            <a:solidFill>
              <a:srgbClr val="E9F3F5"/>
            </a:solidFill>
            <a:prstDash val="solid"/>
          </a:ln>
        </p:spPr>
      </p:sp>
      <p:sp>
        <p:nvSpPr>
          <p:cNvPr id="25" name="Text 23"/>
          <p:cNvSpPr txBox="1"/>
          <p:nvPr/>
        </p:nvSpPr>
        <p:spPr>
          <a:xfrm>
            <a:off x="777240" y="5577840"/>
            <a:ext cx="7772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0091A8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11</a:t>
            </a:r>
            <a:endParaRPr lang="en-US" sz="1500" dirty="0"/>
          </a:p>
        </p:txBody>
      </p:sp>
      <p:sp>
        <p:nvSpPr>
          <p:cNvPr id="26" name="Text 24"/>
          <p:cNvSpPr txBox="1"/>
          <p:nvPr/>
        </p:nvSpPr>
        <p:spPr>
          <a:xfrm>
            <a:off x="1600200" y="5513832"/>
            <a:ext cx="26517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00647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Roadmap</a:t>
            </a:r>
            <a:endParaRPr lang="en-US" sz="1400" dirty="0"/>
          </a:p>
        </p:txBody>
      </p:sp>
      <p:sp>
        <p:nvSpPr>
          <p:cNvPr id="27" name="Text 25"/>
          <p:cNvSpPr txBox="1"/>
          <p:nvPr/>
        </p:nvSpPr>
        <p:spPr>
          <a:xfrm>
            <a:off x="4343400" y="5486400"/>
            <a:ext cx="7040880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5F6B6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Time-bound actions with owners, dependencies, cost bands · Board KPI milestone tracker</a:t>
            </a:r>
            <a:endParaRPr lang="en-US" sz="1150" dirty="0"/>
          </a:p>
        </p:txBody>
      </p:sp>
      <p:sp>
        <p:nvSpPr>
          <p:cNvPr id="28" name="Text 26"/>
          <p:cNvSpPr txBox="1"/>
          <p:nvPr/>
        </p:nvSpPr>
        <p:spPr>
          <a:xfrm>
            <a:off x="548640" y="6172200"/>
            <a:ext cx="110642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i="1" dirty="0">
                <a:solidFill>
                  <a:srgbClr val="5F6B6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Appendices: methodology · emission factors · full metric register · framework index · restatements · engagement log · glossary · legal</a:t>
            </a:r>
            <a:endParaRPr lang="en-US" sz="1150" dirty="0"/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8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310896"/>
            <a:ext cx="110642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200" kern="0" dirty="0">
                <a:solidFill>
                  <a:srgbClr val="0091A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WHERE OKIRU WINS</a:t>
            </a:r>
            <a:endParaRPr lang="en-US" sz="1100" dirty="0"/>
          </a:p>
        </p:txBody>
      </p:sp>
      <p:sp>
        <p:nvSpPr>
          <p:cNvPr id="3" name="Text 1"/>
          <p:cNvSpPr txBox="1"/>
          <p:nvPr/>
        </p:nvSpPr>
        <p:spPr>
          <a:xfrm>
            <a:off x="548640" y="566928"/>
            <a:ext cx="11064240" cy="7132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900" b="1" dirty="0">
                <a:solidFill>
                  <a:srgbClr val="00647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Two sections no global report will write for a South African client</a:t>
            </a:r>
            <a:endParaRPr lang="en-US" sz="2900" dirty="0"/>
          </a:p>
        </p:txBody>
      </p:sp>
      <p:sp>
        <p:nvSpPr>
          <p:cNvPr id="4" name="Shape 2"/>
          <p:cNvSpPr/>
          <p:nvPr/>
        </p:nvSpPr>
        <p:spPr>
          <a:xfrm>
            <a:off x="548640" y="1783080"/>
            <a:ext cx="5440680" cy="3931920"/>
          </a:xfrm>
          <a:prstGeom prst="roundRect">
            <a:avLst>
              <a:gd name="adj" fmla="val 1395"/>
            </a:avLst>
          </a:prstGeom>
          <a:solidFill>
            <a:srgbClr val="101820"/>
          </a:solidFill>
          <a:ln w="9525">
            <a:solidFill>
              <a:srgbClr val="101820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914400" y="2057400"/>
            <a:ext cx="384048" cy="384048"/>
          </a:xfrm>
          <a:prstGeom prst="ellipse">
            <a:avLst/>
          </a:prstGeom>
          <a:solidFill>
            <a:srgbClr val="0091A8"/>
          </a:solidFill>
          <a:ln/>
        </p:spPr>
      </p:sp>
      <p:sp>
        <p:nvSpPr>
          <p:cNvPr id="6" name="Text 4"/>
          <p:cNvSpPr txBox="1"/>
          <p:nvPr/>
        </p:nvSpPr>
        <p:spPr>
          <a:xfrm>
            <a:off x="914400" y="2057400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</a:t>
            </a:r>
            <a:endParaRPr lang="en-US" sz="1400" dirty="0"/>
          </a:p>
        </p:txBody>
      </p:sp>
      <p:sp>
        <p:nvSpPr>
          <p:cNvPr id="7" name="Text 5"/>
          <p:cNvSpPr txBox="1"/>
          <p:nvPr/>
        </p:nvSpPr>
        <p:spPr>
          <a:xfrm>
            <a:off x="914400" y="2578608"/>
            <a:ext cx="46634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Regulatory horizon</a:t>
            </a:r>
            <a:endParaRPr lang="en-US" sz="2000" dirty="0"/>
          </a:p>
        </p:txBody>
      </p:sp>
      <p:sp>
        <p:nvSpPr>
          <p:cNvPr id="8" name="Text 6"/>
          <p:cNvSpPr txBox="1"/>
          <p:nvPr/>
        </p:nvSpPr>
        <p:spPr>
          <a:xfrm>
            <a:off x="914400" y="3063240"/>
            <a:ext cx="4663440" cy="2468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250" dirty="0">
                <a:solidFill>
                  <a:srgbClr val="C6D3D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Climate Change Act and sectoral emission targets</a:t>
            </a:r>
            <a:endParaRPr lang="en-US" sz="125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250" dirty="0">
                <a:solidFill>
                  <a:srgbClr val="C6D3D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Carbon Tax Act, allowances and offsets</a:t>
            </a:r>
            <a:endParaRPr lang="en-US" sz="125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250" dirty="0">
                <a:solidFill>
                  <a:srgbClr val="C6D3D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ISSB adoption roadmap and the FSCA disclosure pathway</a:t>
            </a:r>
            <a:endParaRPr lang="en-US" sz="125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250" dirty="0">
                <a:solidFill>
                  <a:srgbClr val="C6D3D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JSE Listings Requirements and disclosure guidance</a:t>
            </a:r>
            <a:endParaRPr lang="en-US" sz="125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250" dirty="0">
                <a:solidFill>
                  <a:srgbClr val="C6D3D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SA Green Finance Taxonomy</a:t>
            </a:r>
            <a:endParaRPr lang="en-US" sz="125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250" dirty="0">
                <a:solidFill>
                  <a:srgbClr val="C6D3D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Companies Act Regulation 43 and PoPIA</a:t>
            </a:r>
            <a:endParaRPr lang="en-US" sz="1250" dirty="0"/>
          </a:p>
        </p:txBody>
      </p:sp>
      <p:sp>
        <p:nvSpPr>
          <p:cNvPr id="9" name="Shape 7"/>
          <p:cNvSpPr/>
          <p:nvPr/>
        </p:nvSpPr>
        <p:spPr>
          <a:xfrm>
            <a:off x="6355080" y="1783080"/>
            <a:ext cx="5257800" cy="3931920"/>
          </a:xfrm>
          <a:prstGeom prst="roundRect">
            <a:avLst>
              <a:gd name="adj" fmla="val 1395"/>
            </a:avLst>
          </a:prstGeom>
          <a:solidFill>
            <a:srgbClr val="101820"/>
          </a:solidFill>
          <a:ln w="9525">
            <a:solidFill>
              <a:srgbClr val="101820"/>
            </a:solidFill>
            <a:prstDash val="solid"/>
          </a:ln>
        </p:spPr>
      </p:sp>
      <p:sp>
        <p:nvSpPr>
          <p:cNvPr id="10" name="Shape 8"/>
          <p:cNvSpPr/>
          <p:nvPr/>
        </p:nvSpPr>
        <p:spPr>
          <a:xfrm>
            <a:off x="6720840" y="2057400"/>
            <a:ext cx="384048" cy="384048"/>
          </a:xfrm>
          <a:prstGeom prst="ellipse">
            <a:avLst/>
          </a:prstGeom>
          <a:solidFill>
            <a:srgbClr val="0091A8"/>
          </a:solidFill>
          <a:ln/>
        </p:spPr>
      </p:sp>
      <p:sp>
        <p:nvSpPr>
          <p:cNvPr id="11" name="Text 9"/>
          <p:cNvSpPr txBox="1"/>
          <p:nvPr/>
        </p:nvSpPr>
        <p:spPr>
          <a:xfrm>
            <a:off x="6720840" y="2057400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1400" dirty="0"/>
          </a:p>
        </p:txBody>
      </p:sp>
      <p:sp>
        <p:nvSpPr>
          <p:cNvPr id="12" name="Text 10"/>
          <p:cNvSpPr txBox="1"/>
          <p:nvPr/>
        </p:nvSpPr>
        <p:spPr>
          <a:xfrm>
            <a:off x="6720840" y="2578608"/>
            <a:ext cx="45720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Transformation overlay</a:t>
            </a:r>
            <a:endParaRPr lang="en-US" sz="2000" dirty="0"/>
          </a:p>
        </p:txBody>
      </p:sp>
      <p:sp>
        <p:nvSpPr>
          <p:cNvPr id="13" name="Text 11"/>
          <p:cNvSpPr txBox="1"/>
          <p:nvPr/>
        </p:nvSpPr>
        <p:spPr>
          <a:xfrm>
            <a:off x="6720840" y="3063240"/>
            <a:ext cx="4572000" cy="2468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250" dirty="0">
                <a:solidFill>
                  <a:srgbClr val="C6D3D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B-BBEE and Amended Financial Sector Code position</a:t>
            </a:r>
            <a:endParaRPr lang="en-US" sz="125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250" dirty="0">
                <a:solidFill>
                  <a:srgbClr val="C6D3D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Employment Equity sector targets and progress</a:t>
            </a:r>
            <a:endParaRPr lang="en-US" sz="125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250" dirty="0">
                <a:solidFill>
                  <a:srgbClr val="C6D3D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Skills development spend and beneficiary demographics</a:t>
            </a:r>
            <a:endParaRPr lang="en-US" sz="125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250" dirty="0">
                <a:solidFill>
                  <a:srgbClr val="C6D3D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Enterprise and supplier development outcomes</a:t>
            </a:r>
            <a:endParaRPr lang="en-US" sz="125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250" dirty="0">
                <a:solidFill>
                  <a:srgbClr val="C6D3D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Pay equality by race and gender</a:t>
            </a:r>
            <a:endParaRPr lang="en-US" sz="125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250" dirty="0">
                <a:solidFill>
                  <a:srgbClr val="C6D3D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Socio-economic development and value added</a:t>
            </a:r>
            <a:endParaRPr lang="en-US" sz="1250" dirty="0"/>
          </a:p>
        </p:txBody>
      </p:sp>
      <p:sp>
        <p:nvSpPr>
          <p:cNvPr id="14" name="Text 12"/>
          <p:cNvSpPr txBox="1"/>
          <p:nvPr/>
        </p:nvSpPr>
        <p:spPr>
          <a:xfrm>
            <a:off x="548640" y="5943600"/>
            <a:ext cx="110642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i="1" dirty="0">
                <a:solidFill>
                  <a:srgbClr val="00647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Okiru's existing compliance and transformation practice already produces this. A pure ESG house cannot.</a:t>
            </a:r>
            <a:endParaRPr lang="en-US" sz="1400" dirty="0"/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9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310896"/>
            <a:ext cx="110642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200" kern="0" dirty="0">
                <a:solidFill>
                  <a:srgbClr val="0091A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COMMERCIAL ENGINE</a:t>
            </a:r>
            <a:endParaRPr lang="en-US" sz="1100" dirty="0"/>
          </a:p>
        </p:txBody>
      </p:sp>
      <p:sp>
        <p:nvSpPr>
          <p:cNvPr id="3" name="Text 1"/>
          <p:cNvSpPr txBox="1"/>
          <p:nvPr/>
        </p:nvSpPr>
        <p:spPr>
          <a:xfrm>
            <a:off x="548640" y="566928"/>
            <a:ext cx="11064240" cy="7132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900" b="1" dirty="0">
                <a:solidFill>
                  <a:srgbClr val="00647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The gap register is the product, not a byproduct</a:t>
            </a:r>
            <a:endParaRPr lang="en-US" sz="2900" dirty="0"/>
          </a:p>
        </p:txBody>
      </p:sp>
      <p:sp>
        <p:nvSpPr>
          <p:cNvPr id="4" name="Text 2"/>
          <p:cNvSpPr txBox="1"/>
          <p:nvPr/>
        </p:nvSpPr>
        <p:spPr>
          <a:xfrm>
            <a:off x="548640" y="1417320"/>
            <a:ext cx="1106424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5F6B6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Every metric the toolkit cannot populate becomes a named, costed remediation item. That document is the scope of work for the next engagement.</a:t>
            </a:r>
            <a:endParaRPr lang="en-US" sz="1400" dirty="0"/>
          </a:p>
        </p:txBody>
      </p:sp>
      <p:graphicFrame>
        <p:nvGraphicFramePr>
          <p:cNvPr id="20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548640" y="2011680"/>
          <a:ext cx="11064240" cy="914400"/>
        </p:xfrm>
        <a:graphic>
          <a:graphicData uri="http://schemas.openxmlformats.org/drawingml/2006/table">
            <a:tbl>
              <a:tblPr/>
              <a:tblGrid>
                <a:gridCol w="1005840"/>
                <a:gridCol w="3017520"/>
                <a:gridCol w="2651760"/>
                <a:gridCol w="1005840"/>
                <a:gridCol w="822960"/>
                <a:gridCol w="1280160"/>
                <a:gridCol w="1280160"/>
              </a:tblGrid>
              <a:tr h="54864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Gap ID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5DE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E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E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E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647A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Nature of gap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5DE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E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E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E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647A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Requirement not met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5DE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E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E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E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647A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Risk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5DE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E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E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E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647A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Effort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5DE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E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E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E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647A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Cost band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5DE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E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E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E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647A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Due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5DE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E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E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E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647A"/>
                    </a:solidFill>
                  </a:tcPr>
                </a:tc>
              </a:tr>
              <a:tr h="54864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50" dirty="0">
                          <a:solidFill>
                            <a:srgbClr val="22282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G-014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5DE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E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E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E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50" dirty="0">
                          <a:solidFill>
                            <a:srgbClr val="22282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Scope 3 category 1 not measured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5DE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E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E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E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50" dirty="0">
                          <a:solidFill>
                            <a:srgbClr val="22282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JSE Leadership · IFRS S2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5DE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E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E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E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50" dirty="0">
                          <a:solidFill>
                            <a:srgbClr val="22282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High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5DE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E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E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E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50" dirty="0">
                          <a:solidFill>
                            <a:srgbClr val="22282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M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5DE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E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E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E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50" dirty="0">
                          <a:solidFill>
                            <a:srgbClr val="22282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R–RR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5DE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E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E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E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50" dirty="0">
                          <a:solidFill>
                            <a:srgbClr val="22282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Q3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5DE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E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E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E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54864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50" dirty="0">
                          <a:solidFill>
                            <a:srgbClr val="22282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G-021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5DE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E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E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E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50" dirty="0">
                          <a:solidFill>
                            <a:srgbClr val="22282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No living wage benchmark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5DE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E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E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E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50" dirty="0">
                          <a:solidFill>
                            <a:srgbClr val="22282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JSE Core · Amended FSC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5DE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E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E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E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50" dirty="0">
                          <a:solidFill>
                            <a:srgbClr val="22282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Medium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5DE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E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E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E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50" dirty="0">
                          <a:solidFill>
                            <a:srgbClr val="22282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5DE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E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E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E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50" dirty="0">
                          <a:solidFill>
                            <a:srgbClr val="22282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R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5DE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E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E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E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50" dirty="0">
                          <a:solidFill>
                            <a:srgbClr val="22282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Q2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5DE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E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E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E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54864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50" dirty="0">
                          <a:solidFill>
                            <a:srgbClr val="22282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G-033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5DE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E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E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E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50" dirty="0">
                          <a:solidFill>
                            <a:srgbClr val="22282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Supplier ESG screening absent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5DE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E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E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E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50" dirty="0">
                          <a:solidFill>
                            <a:srgbClr val="22282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JSE Core · GRI 308/414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5DE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E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E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E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50" dirty="0">
                          <a:solidFill>
                            <a:srgbClr val="22282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High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5DE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E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E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E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50" dirty="0">
                          <a:solidFill>
                            <a:srgbClr val="22282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L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5DE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E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E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E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50" dirty="0">
                          <a:solidFill>
                            <a:srgbClr val="22282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RR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5DE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E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E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E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50" dirty="0">
                          <a:solidFill>
                            <a:srgbClr val="22282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Q4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5DE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E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E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E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</a:tbl>
          </a:graphicData>
        </a:graphic>
      </p:graphicFrame>
      <p:sp>
        <p:nvSpPr>
          <p:cNvPr id="6" name="Shape 3"/>
          <p:cNvSpPr/>
          <p:nvPr/>
        </p:nvSpPr>
        <p:spPr>
          <a:xfrm>
            <a:off x="548640" y="4663440"/>
            <a:ext cx="3520440" cy="1554480"/>
          </a:xfrm>
          <a:prstGeom prst="roundRect">
            <a:avLst>
              <a:gd name="adj" fmla="val 3529"/>
            </a:avLst>
          </a:prstGeom>
          <a:solidFill>
            <a:srgbClr val="E9F3F5"/>
          </a:solidFill>
          <a:ln w="9525">
            <a:solidFill>
              <a:srgbClr val="E9F3F5"/>
            </a:solidFill>
            <a:prstDash val="solid"/>
          </a:ln>
        </p:spPr>
      </p:sp>
      <p:sp>
        <p:nvSpPr>
          <p:cNvPr id="7" name="Text 4"/>
          <p:cNvSpPr txBox="1"/>
          <p:nvPr/>
        </p:nvSpPr>
        <p:spPr>
          <a:xfrm>
            <a:off x="822960" y="4864608"/>
            <a:ext cx="29718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00647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Tier 1 ships with a costed schedule</a:t>
            </a:r>
            <a:endParaRPr lang="en-US" sz="1400" dirty="0"/>
          </a:p>
        </p:txBody>
      </p:sp>
      <p:sp>
        <p:nvSpPr>
          <p:cNvPr id="8" name="Text 5"/>
          <p:cNvSpPr txBox="1"/>
          <p:nvPr/>
        </p:nvSpPr>
        <p:spPr>
          <a:xfrm>
            <a:off x="822960" y="5440680"/>
            <a:ext cx="29718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5F6B6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Conversion from Tier 1 to remediation work is the metric to track</a:t>
            </a:r>
            <a:endParaRPr lang="en-US" sz="1200" dirty="0"/>
          </a:p>
        </p:txBody>
      </p:sp>
      <p:sp>
        <p:nvSpPr>
          <p:cNvPr id="9" name="Shape 6"/>
          <p:cNvSpPr/>
          <p:nvPr/>
        </p:nvSpPr>
        <p:spPr>
          <a:xfrm>
            <a:off x="4343400" y="4663440"/>
            <a:ext cx="3520440" cy="1554480"/>
          </a:xfrm>
          <a:prstGeom prst="roundRect">
            <a:avLst>
              <a:gd name="adj" fmla="val 3529"/>
            </a:avLst>
          </a:prstGeom>
          <a:solidFill>
            <a:srgbClr val="E9F3F5"/>
          </a:solidFill>
          <a:ln w="9525">
            <a:solidFill>
              <a:srgbClr val="E9F3F5"/>
            </a:solidFill>
            <a:prstDash val="solid"/>
          </a:ln>
        </p:spPr>
      </p:sp>
      <p:sp>
        <p:nvSpPr>
          <p:cNvPr id="10" name="Text 7"/>
          <p:cNvSpPr txBox="1"/>
          <p:nvPr/>
        </p:nvSpPr>
        <p:spPr>
          <a:xfrm>
            <a:off x="4617720" y="4864608"/>
            <a:ext cx="29718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00647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Assurance readiness rated per topic</a:t>
            </a:r>
            <a:endParaRPr lang="en-US" sz="1400" dirty="0"/>
          </a:p>
        </p:txBody>
      </p:sp>
      <p:sp>
        <p:nvSpPr>
          <p:cNvPr id="11" name="Text 8"/>
          <p:cNvSpPr txBox="1"/>
          <p:nvPr/>
        </p:nvSpPr>
        <p:spPr>
          <a:xfrm>
            <a:off x="4617720" y="5440680"/>
            <a:ext cx="29718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5F6B6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client two steps from assurable will buy those two steps</a:t>
            </a:r>
            <a:endParaRPr lang="en-US" sz="1200" dirty="0"/>
          </a:p>
        </p:txBody>
      </p:sp>
      <p:sp>
        <p:nvSpPr>
          <p:cNvPr id="12" name="Shape 9"/>
          <p:cNvSpPr/>
          <p:nvPr/>
        </p:nvSpPr>
        <p:spPr>
          <a:xfrm>
            <a:off x="8138160" y="4663440"/>
            <a:ext cx="3520440" cy="1554480"/>
          </a:xfrm>
          <a:prstGeom prst="roundRect">
            <a:avLst>
              <a:gd name="adj" fmla="val 3529"/>
            </a:avLst>
          </a:prstGeom>
          <a:solidFill>
            <a:srgbClr val="E9F3F5"/>
          </a:solidFill>
          <a:ln w="9525">
            <a:solidFill>
              <a:srgbClr val="E9F3F5"/>
            </a:solidFill>
            <a:prstDash val="solid"/>
          </a:ln>
        </p:spPr>
      </p:sp>
      <p:sp>
        <p:nvSpPr>
          <p:cNvPr id="13" name="Text 10"/>
          <p:cNvSpPr txBox="1"/>
          <p:nvPr/>
        </p:nvSpPr>
        <p:spPr>
          <a:xfrm>
            <a:off x="8412480" y="4864608"/>
            <a:ext cx="29718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00647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Year two costs far less to produce</a:t>
            </a:r>
            <a:endParaRPr lang="en-US" sz="1400" dirty="0"/>
          </a:p>
        </p:txBody>
      </p:sp>
      <p:sp>
        <p:nvSpPr>
          <p:cNvPr id="14" name="Text 11"/>
          <p:cNvSpPr txBox="1"/>
          <p:nvPr/>
        </p:nvSpPr>
        <p:spPr>
          <a:xfrm>
            <a:off x="8412480" y="5440680"/>
            <a:ext cx="29718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5F6B6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Discount it, lock the annual cycle, keep the margin</a:t>
            </a:r>
            <a:endParaRPr lang="en-US" sz="1200" dirty="0"/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0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310896"/>
            <a:ext cx="110642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200" kern="0" dirty="0">
                <a:solidFill>
                  <a:srgbClr val="0091A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CONTROLS</a:t>
            </a:r>
            <a:endParaRPr lang="en-US" sz="1100" dirty="0"/>
          </a:p>
        </p:txBody>
      </p:sp>
      <p:sp>
        <p:nvSpPr>
          <p:cNvPr id="3" name="Text 1"/>
          <p:cNvSpPr txBox="1"/>
          <p:nvPr/>
        </p:nvSpPr>
        <p:spPr>
          <a:xfrm>
            <a:off x="548640" y="566928"/>
            <a:ext cx="11064240" cy="7132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900" b="1" dirty="0">
                <a:solidFill>
                  <a:srgbClr val="00647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Three risks to design out now</a:t>
            </a:r>
            <a:endParaRPr lang="en-US" sz="2900" dirty="0"/>
          </a:p>
        </p:txBody>
      </p:sp>
      <p:sp>
        <p:nvSpPr>
          <p:cNvPr id="4" name="Shape 2"/>
          <p:cNvSpPr/>
          <p:nvPr/>
        </p:nvSpPr>
        <p:spPr>
          <a:xfrm>
            <a:off x="548640" y="1645920"/>
            <a:ext cx="11064240" cy="1371600"/>
          </a:xfrm>
          <a:prstGeom prst="roundRect">
            <a:avLst>
              <a:gd name="adj" fmla="val 4000"/>
            </a:avLst>
          </a:prstGeom>
          <a:solidFill>
            <a:srgbClr val="F3F6F7"/>
          </a:solidFill>
          <a:ln w="9525">
            <a:solidFill>
              <a:srgbClr val="DCE4E6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822960" y="2057400"/>
            <a:ext cx="502920" cy="502920"/>
          </a:xfrm>
          <a:prstGeom prst="ellipse">
            <a:avLst/>
          </a:prstGeom>
          <a:solidFill>
            <a:srgbClr val="B03A2E"/>
          </a:solidFill>
          <a:ln/>
        </p:spPr>
      </p:sp>
      <p:sp>
        <p:nvSpPr>
          <p:cNvPr id="6" name="Text 4"/>
          <p:cNvSpPr txBox="1"/>
          <p:nvPr/>
        </p:nvSpPr>
        <p:spPr>
          <a:xfrm>
            <a:off x="822960" y="2057400"/>
            <a:ext cx="5029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7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1</a:t>
            </a:r>
            <a:endParaRPr lang="en-US" sz="1700" dirty="0"/>
          </a:p>
        </p:txBody>
      </p:sp>
      <p:sp>
        <p:nvSpPr>
          <p:cNvPr id="7" name="Text 5"/>
          <p:cNvSpPr txBox="1"/>
          <p:nvPr/>
        </p:nvSpPr>
        <p:spPr>
          <a:xfrm>
            <a:off x="1508760" y="1828800"/>
            <a:ext cx="26517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00647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Liability</a:t>
            </a:r>
            <a:endParaRPr lang="en-US" sz="1700" dirty="0"/>
          </a:p>
        </p:txBody>
      </p:sp>
      <p:sp>
        <p:nvSpPr>
          <p:cNvPr id="8" name="Text 6"/>
          <p:cNvSpPr txBox="1"/>
          <p:nvPr/>
        </p:nvSpPr>
        <p:spPr>
          <a:xfrm>
            <a:off x="1508760" y="2212848"/>
            <a:ext cx="420624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5F6B6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 auto-generated document asserting disclosure facts on Okiru letterhead, from unverified client data.</a:t>
            </a:r>
            <a:endParaRPr lang="en-US" sz="1150" dirty="0"/>
          </a:p>
        </p:txBody>
      </p:sp>
      <p:sp>
        <p:nvSpPr>
          <p:cNvPr id="9" name="Text 7"/>
          <p:cNvSpPr txBox="1"/>
          <p:nvPr/>
        </p:nvSpPr>
        <p:spPr>
          <a:xfrm>
            <a:off x="6309360" y="1828800"/>
            <a:ext cx="5029200" cy="10515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2228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Basis of preparation, data provenance statement, and a hard client sign-off gate. DRAFT watermark until a named officer signs. No override.</a:t>
            </a:r>
            <a:endParaRPr lang="en-US" sz="1200" dirty="0"/>
          </a:p>
        </p:txBody>
      </p:sp>
      <p:sp>
        <p:nvSpPr>
          <p:cNvPr id="10" name="Shape 8"/>
          <p:cNvSpPr/>
          <p:nvPr/>
        </p:nvSpPr>
        <p:spPr>
          <a:xfrm>
            <a:off x="548640" y="3154680"/>
            <a:ext cx="11064240" cy="1371600"/>
          </a:xfrm>
          <a:prstGeom prst="roundRect">
            <a:avLst>
              <a:gd name="adj" fmla="val 4000"/>
            </a:avLst>
          </a:prstGeom>
          <a:solidFill>
            <a:srgbClr val="F3F6F7"/>
          </a:solidFill>
          <a:ln w="9525">
            <a:solidFill>
              <a:srgbClr val="DCE4E6"/>
            </a:solidFill>
            <a:prstDash val="solid"/>
          </a:ln>
        </p:spPr>
      </p:sp>
      <p:sp>
        <p:nvSpPr>
          <p:cNvPr id="11" name="Shape 9"/>
          <p:cNvSpPr/>
          <p:nvPr/>
        </p:nvSpPr>
        <p:spPr>
          <a:xfrm>
            <a:off x="822960" y="3566160"/>
            <a:ext cx="502920" cy="502920"/>
          </a:xfrm>
          <a:prstGeom prst="ellipse">
            <a:avLst/>
          </a:prstGeom>
          <a:solidFill>
            <a:srgbClr val="B03A2E"/>
          </a:solidFill>
          <a:ln/>
        </p:spPr>
      </p:sp>
      <p:sp>
        <p:nvSpPr>
          <p:cNvPr id="12" name="Text 10"/>
          <p:cNvSpPr txBox="1"/>
          <p:nvPr/>
        </p:nvSpPr>
        <p:spPr>
          <a:xfrm>
            <a:off x="822960" y="3566160"/>
            <a:ext cx="5029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7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2</a:t>
            </a:r>
            <a:endParaRPr lang="en-US" sz="1700" dirty="0"/>
          </a:p>
        </p:txBody>
      </p:sp>
      <p:sp>
        <p:nvSpPr>
          <p:cNvPr id="13" name="Text 11"/>
          <p:cNvSpPr txBox="1"/>
          <p:nvPr/>
        </p:nvSpPr>
        <p:spPr>
          <a:xfrm>
            <a:off x="1508760" y="3337560"/>
            <a:ext cx="26517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00647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Greenwashing exposure</a:t>
            </a:r>
            <a:endParaRPr lang="en-US" sz="1700" dirty="0"/>
          </a:p>
        </p:txBody>
      </p:sp>
      <p:sp>
        <p:nvSpPr>
          <p:cNvPr id="14" name="Text 12"/>
          <p:cNvSpPr txBox="1"/>
          <p:nvPr/>
        </p:nvSpPr>
        <p:spPr>
          <a:xfrm>
            <a:off x="1508760" y="3721608"/>
            <a:ext cx="420624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5F6B6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FSCA is developing guidance explicitly targeting greenwashing, social washing and impact washing.</a:t>
            </a:r>
            <a:endParaRPr lang="en-US" sz="1150" dirty="0"/>
          </a:p>
        </p:txBody>
      </p:sp>
      <p:sp>
        <p:nvSpPr>
          <p:cNvPr id="15" name="Text 13"/>
          <p:cNvSpPr txBox="1"/>
          <p:nvPr/>
        </p:nvSpPr>
        <p:spPr>
          <a:xfrm>
            <a:off x="6309360" y="3337560"/>
            <a:ext cx="5029200" cy="10515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2228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Claims substantiation control: no qualitative claim renders without a bound evidence ID. The block fails rather than shipping unsupported.</a:t>
            </a:r>
            <a:endParaRPr lang="en-US" sz="1200" dirty="0"/>
          </a:p>
        </p:txBody>
      </p:sp>
      <p:sp>
        <p:nvSpPr>
          <p:cNvPr id="16" name="Shape 14"/>
          <p:cNvSpPr/>
          <p:nvPr/>
        </p:nvSpPr>
        <p:spPr>
          <a:xfrm>
            <a:off x="548640" y="4663440"/>
            <a:ext cx="11064240" cy="1371600"/>
          </a:xfrm>
          <a:prstGeom prst="roundRect">
            <a:avLst>
              <a:gd name="adj" fmla="val 4000"/>
            </a:avLst>
          </a:prstGeom>
          <a:solidFill>
            <a:srgbClr val="F3F6F7"/>
          </a:solidFill>
          <a:ln w="9525">
            <a:solidFill>
              <a:srgbClr val="DCE4E6"/>
            </a:solidFill>
            <a:prstDash val="solid"/>
          </a:ln>
        </p:spPr>
      </p:sp>
      <p:sp>
        <p:nvSpPr>
          <p:cNvPr id="17" name="Shape 15"/>
          <p:cNvSpPr/>
          <p:nvPr/>
        </p:nvSpPr>
        <p:spPr>
          <a:xfrm>
            <a:off x="822960" y="5074920"/>
            <a:ext cx="502920" cy="502920"/>
          </a:xfrm>
          <a:prstGeom prst="ellipse">
            <a:avLst/>
          </a:prstGeom>
          <a:solidFill>
            <a:srgbClr val="B03A2E"/>
          </a:solidFill>
          <a:ln/>
        </p:spPr>
      </p:sp>
      <p:sp>
        <p:nvSpPr>
          <p:cNvPr id="18" name="Text 16"/>
          <p:cNvSpPr txBox="1"/>
          <p:nvPr/>
        </p:nvSpPr>
        <p:spPr>
          <a:xfrm>
            <a:off x="822960" y="5074920"/>
            <a:ext cx="5029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7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3</a:t>
            </a:r>
            <a:endParaRPr lang="en-US" sz="1700" dirty="0"/>
          </a:p>
        </p:txBody>
      </p:sp>
      <p:sp>
        <p:nvSpPr>
          <p:cNvPr id="19" name="Text 17"/>
          <p:cNvSpPr txBox="1"/>
          <p:nvPr/>
        </p:nvSpPr>
        <p:spPr>
          <a:xfrm>
            <a:off x="1508760" y="4846320"/>
            <a:ext cx="26517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00647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Framework drift</a:t>
            </a:r>
            <a:endParaRPr lang="en-US" sz="1700" dirty="0"/>
          </a:p>
        </p:txBody>
      </p:sp>
      <p:sp>
        <p:nvSpPr>
          <p:cNvPr id="20" name="Text 18"/>
          <p:cNvSpPr txBox="1"/>
          <p:nvPr/>
        </p:nvSpPr>
        <p:spPr>
          <a:xfrm>
            <a:off x="1508760" y="5230368"/>
            <a:ext cx="420624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5F6B6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Hard-coded JSE 2022 or GRI references break every client report the moment a standard updates.</a:t>
            </a:r>
            <a:endParaRPr lang="en-US" sz="1150" dirty="0"/>
          </a:p>
        </p:txBody>
      </p:sp>
      <p:sp>
        <p:nvSpPr>
          <p:cNvPr id="21" name="Text 19"/>
          <p:cNvSpPr txBox="1"/>
          <p:nvPr/>
        </p:nvSpPr>
        <p:spPr>
          <a:xfrm>
            <a:off x="6309360" y="4846320"/>
            <a:ext cx="5029200" cy="10515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2228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Framework mappings live in a versioned reference table outside the template. Reports record which version they were generated against.</a:t>
            </a:r>
            <a:endParaRPr lang="en-US" sz="1200" dirty="0"/>
          </a:p>
        </p:txBody>
      </p:sp>
    </p:spTree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1">
    <p:bg>
      <p:bgPr>
        <a:solidFill>
          <a:srgbClr val="10182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310896"/>
            <a:ext cx="110642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200" kern="0" dirty="0">
                <a:solidFill>
                  <a:srgbClr val="6FC7D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NON-NEGOTIABLE</a:t>
            </a:r>
            <a:endParaRPr lang="en-US" sz="1100" dirty="0"/>
          </a:p>
        </p:txBody>
      </p:sp>
      <p:sp>
        <p:nvSpPr>
          <p:cNvPr id="3" name="Text 1"/>
          <p:cNvSpPr txBox="1"/>
          <p:nvPr/>
        </p:nvSpPr>
        <p:spPr>
          <a:xfrm>
            <a:off x="548640" y="566928"/>
            <a:ext cx="11064240" cy="7132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9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Generation rules</a:t>
            </a:r>
            <a:endParaRPr lang="en-US" sz="2900" dirty="0"/>
          </a:p>
        </p:txBody>
      </p:sp>
      <p:sp>
        <p:nvSpPr>
          <p:cNvPr id="4" name="Text 2"/>
          <p:cNvSpPr txBox="1"/>
          <p:nvPr/>
        </p:nvSpPr>
        <p:spPr>
          <a:xfrm>
            <a:off x="548640" y="1737360"/>
            <a:ext cx="5486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6FC7D6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01</a:t>
            </a:r>
            <a:endParaRPr lang="en-US" sz="1700" dirty="0"/>
          </a:p>
        </p:txBody>
      </p:sp>
      <p:sp>
        <p:nvSpPr>
          <p:cNvPr id="5" name="Text 3"/>
          <p:cNvSpPr txBox="1"/>
          <p:nvPr/>
        </p:nvSpPr>
        <p:spPr>
          <a:xfrm>
            <a:off x="1143000" y="1737360"/>
            <a:ext cx="4754880" cy="3017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5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Nothing renders empty</a:t>
            </a:r>
            <a:endParaRPr lang="en-US" sz="1450" dirty="0"/>
          </a:p>
        </p:txBody>
      </p:sp>
      <p:sp>
        <p:nvSpPr>
          <p:cNvPr id="6" name="Text 4"/>
          <p:cNvSpPr txBox="1"/>
          <p:nvPr/>
        </p:nvSpPr>
        <p:spPr>
          <a:xfrm>
            <a:off x="1143000" y="2048256"/>
            <a:ext cx="475488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9AACB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section with no data renders an omission statement, never a blank</a:t>
            </a:r>
            <a:endParaRPr lang="en-US" sz="1100" dirty="0"/>
          </a:p>
        </p:txBody>
      </p:sp>
      <p:sp>
        <p:nvSpPr>
          <p:cNvPr id="7" name="Text 5"/>
          <p:cNvSpPr txBox="1"/>
          <p:nvPr/>
        </p:nvSpPr>
        <p:spPr>
          <a:xfrm>
            <a:off x="6172200" y="1737360"/>
            <a:ext cx="5486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6FC7D6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02</a:t>
            </a:r>
            <a:endParaRPr lang="en-US" sz="1700" dirty="0"/>
          </a:p>
        </p:txBody>
      </p:sp>
      <p:sp>
        <p:nvSpPr>
          <p:cNvPr id="8" name="Text 6"/>
          <p:cNvSpPr txBox="1"/>
          <p:nvPr/>
        </p:nvSpPr>
        <p:spPr>
          <a:xfrm>
            <a:off x="6766560" y="1737360"/>
            <a:ext cx="4754880" cy="3017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5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Draft until signed</a:t>
            </a:r>
            <a:endParaRPr lang="en-US" sz="1450" dirty="0"/>
          </a:p>
        </p:txBody>
      </p:sp>
      <p:sp>
        <p:nvSpPr>
          <p:cNvPr id="9" name="Text 7"/>
          <p:cNvSpPr txBox="1"/>
          <p:nvPr/>
        </p:nvSpPr>
        <p:spPr>
          <a:xfrm>
            <a:off x="6766560" y="2048256"/>
            <a:ext cx="475488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9AACB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Full-page watermark until the client sign-off field is populated</a:t>
            </a:r>
            <a:endParaRPr lang="en-US" sz="1100" dirty="0"/>
          </a:p>
        </p:txBody>
      </p:sp>
      <p:sp>
        <p:nvSpPr>
          <p:cNvPr id="10" name="Text 8"/>
          <p:cNvSpPr txBox="1"/>
          <p:nvPr/>
        </p:nvSpPr>
        <p:spPr>
          <a:xfrm>
            <a:off x="548640" y="2679192"/>
            <a:ext cx="5486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6FC7D6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03</a:t>
            </a:r>
            <a:endParaRPr lang="en-US" sz="1700" dirty="0"/>
          </a:p>
        </p:txBody>
      </p:sp>
      <p:sp>
        <p:nvSpPr>
          <p:cNvPr id="11" name="Text 9"/>
          <p:cNvSpPr txBox="1"/>
          <p:nvPr/>
        </p:nvSpPr>
        <p:spPr>
          <a:xfrm>
            <a:off x="1143000" y="2679192"/>
            <a:ext cx="4754880" cy="3017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5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Claims are evidence-bound</a:t>
            </a:r>
            <a:endParaRPr lang="en-US" sz="1450" dirty="0"/>
          </a:p>
        </p:txBody>
      </p:sp>
      <p:sp>
        <p:nvSpPr>
          <p:cNvPr id="12" name="Text 10"/>
          <p:cNvSpPr txBox="1"/>
          <p:nvPr/>
        </p:nvSpPr>
        <p:spPr>
          <a:xfrm>
            <a:off x="1143000" y="2990088"/>
            <a:ext cx="475488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9AACB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 evidence ID, no render</a:t>
            </a:r>
            <a:endParaRPr lang="en-US" sz="1100" dirty="0"/>
          </a:p>
        </p:txBody>
      </p:sp>
      <p:sp>
        <p:nvSpPr>
          <p:cNvPr id="13" name="Text 11"/>
          <p:cNvSpPr txBox="1"/>
          <p:nvPr/>
        </p:nvSpPr>
        <p:spPr>
          <a:xfrm>
            <a:off x="6172200" y="2679192"/>
            <a:ext cx="5486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6FC7D6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04</a:t>
            </a:r>
            <a:endParaRPr lang="en-US" sz="1700" dirty="0"/>
          </a:p>
        </p:txBody>
      </p:sp>
      <p:sp>
        <p:nvSpPr>
          <p:cNvPr id="14" name="Text 12"/>
          <p:cNvSpPr txBox="1"/>
          <p:nvPr/>
        </p:nvSpPr>
        <p:spPr>
          <a:xfrm>
            <a:off x="6766560" y="2679192"/>
            <a:ext cx="4754880" cy="3017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5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Every claim is tiered</a:t>
            </a:r>
            <a:endParaRPr lang="en-US" sz="1450" dirty="0"/>
          </a:p>
        </p:txBody>
      </p:sp>
      <p:sp>
        <p:nvSpPr>
          <p:cNvPr id="15" name="Text 13"/>
          <p:cNvSpPr txBox="1"/>
          <p:nvPr/>
        </p:nvSpPr>
        <p:spPr>
          <a:xfrm>
            <a:off x="6766560" y="2990088"/>
            <a:ext cx="475488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9AACB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sentence that cannot be classified A to D does not go in</a:t>
            </a:r>
            <a:endParaRPr lang="en-US" sz="1100" dirty="0"/>
          </a:p>
        </p:txBody>
      </p:sp>
      <p:sp>
        <p:nvSpPr>
          <p:cNvPr id="16" name="Text 14"/>
          <p:cNvSpPr txBox="1"/>
          <p:nvPr/>
        </p:nvSpPr>
        <p:spPr>
          <a:xfrm>
            <a:off x="548640" y="3621024"/>
            <a:ext cx="5486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6FC7D6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05</a:t>
            </a:r>
            <a:endParaRPr lang="en-US" sz="1700" dirty="0"/>
          </a:p>
        </p:txBody>
      </p:sp>
      <p:sp>
        <p:nvSpPr>
          <p:cNvPr id="17" name="Text 15"/>
          <p:cNvSpPr txBox="1"/>
          <p:nvPr/>
        </p:nvSpPr>
        <p:spPr>
          <a:xfrm>
            <a:off x="1143000" y="3621024"/>
            <a:ext cx="4754880" cy="3017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5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Numbers and narrative pair</a:t>
            </a:r>
            <a:endParaRPr lang="en-US" sz="1450" dirty="0"/>
          </a:p>
        </p:txBody>
      </p:sp>
      <p:sp>
        <p:nvSpPr>
          <p:cNvPr id="18" name="Text 16"/>
          <p:cNvSpPr txBox="1"/>
          <p:nvPr/>
        </p:nvSpPr>
        <p:spPr>
          <a:xfrm>
            <a:off x="1143000" y="3931920"/>
            <a:ext cx="475488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9AACB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 figure without a why; no claim without a figure</a:t>
            </a:r>
            <a:endParaRPr lang="en-US" sz="1100" dirty="0"/>
          </a:p>
        </p:txBody>
      </p:sp>
      <p:sp>
        <p:nvSpPr>
          <p:cNvPr id="19" name="Text 17"/>
          <p:cNvSpPr txBox="1"/>
          <p:nvPr/>
        </p:nvSpPr>
        <p:spPr>
          <a:xfrm>
            <a:off x="6172200" y="3621024"/>
            <a:ext cx="5486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6FC7D6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06</a:t>
            </a:r>
            <a:endParaRPr lang="en-US" sz="1700" dirty="0"/>
          </a:p>
        </p:txBody>
      </p:sp>
      <p:sp>
        <p:nvSpPr>
          <p:cNvPr id="20" name="Text 18"/>
          <p:cNvSpPr txBox="1"/>
          <p:nvPr/>
        </p:nvSpPr>
        <p:spPr>
          <a:xfrm>
            <a:off x="6766560" y="3621024"/>
            <a:ext cx="4754880" cy="3017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5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Suppression is visible</a:t>
            </a:r>
            <a:endParaRPr lang="en-US" sz="1450" dirty="0"/>
          </a:p>
        </p:txBody>
      </p:sp>
      <p:sp>
        <p:nvSpPr>
          <p:cNvPr id="21" name="Text 19"/>
          <p:cNvSpPr txBox="1"/>
          <p:nvPr/>
        </p:nvSpPr>
        <p:spPr>
          <a:xfrm>
            <a:off x="6766560" y="3931920"/>
            <a:ext cx="475488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9AACB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Sections omitted as immaterial still appear in the disclosure index</a:t>
            </a:r>
            <a:endParaRPr lang="en-US" sz="1100" dirty="0"/>
          </a:p>
        </p:txBody>
      </p:sp>
      <p:sp>
        <p:nvSpPr>
          <p:cNvPr id="22" name="Text 20"/>
          <p:cNvSpPr txBox="1"/>
          <p:nvPr/>
        </p:nvSpPr>
        <p:spPr>
          <a:xfrm>
            <a:off x="548640" y="4562856"/>
            <a:ext cx="5486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6FC7D6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07</a:t>
            </a:r>
            <a:endParaRPr lang="en-US" sz="1700" dirty="0"/>
          </a:p>
        </p:txBody>
      </p:sp>
      <p:sp>
        <p:nvSpPr>
          <p:cNvPr id="23" name="Text 21"/>
          <p:cNvSpPr txBox="1"/>
          <p:nvPr/>
        </p:nvSpPr>
        <p:spPr>
          <a:xfrm>
            <a:off x="1143000" y="4562856"/>
            <a:ext cx="4754880" cy="3017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5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Restatement is automatic</a:t>
            </a:r>
            <a:endParaRPr lang="en-US" sz="1450" dirty="0"/>
          </a:p>
        </p:txBody>
      </p:sp>
      <p:sp>
        <p:nvSpPr>
          <p:cNvPr id="24" name="Text 22"/>
          <p:cNvSpPr txBox="1"/>
          <p:nvPr/>
        </p:nvSpPr>
        <p:spPr>
          <a:xfrm>
            <a:off x="1143000" y="4873752"/>
            <a:ext cx="475488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9AACB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Any changed prior-year figure triggers a footnote and an appendix row</a:t>
            </a:r>
            <a:endParaRPr lang="en-US" sz="1100" dirty="0"/>
          </a:p>
        </p:txBody>
      </p:sp>
      <p:sp>
        <p:nvSpPr>
          <p:cNvPr id="25" name="Text 23"/>
          <p:cNvSpPr txBox="1"/>
          <p:nvPr/>
        </p:nvSpPr>
        <p:spPr>
          <a:xfrm>
            <a:off x="6172200" y="4562856"/>
            <a:ext cx="5486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6FC7D6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08</a:t>
            </a:r>
            <a:endParaRPr lang="en-US" sz="1700" dirty="0"/>
          </a:p>
        </p:txBody>
      </p:sp>
      <p:sp>
        <p:nvSpPr>
          <p:cNvPr id="26" name="Text 24"/>
          <p:cNvSpPr txBox="1"/>
          <p:nvPr/>
        </p:nvSpPr>
        <p:spPr>
          <a:xfrm>
            <a:off x="6766560" y="4562856"/>
            <a:ext cx="4754880" cy="3017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5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Version stamping</a:t>
            </a:r>
            <a:endParaRPr lang="en-US" sz="1450" dirty="0"/>
          </a:p>
        </p:txBody>
      </p:sp>
      <p:sp>
        <p:nvSpPr>
          <p:cNvPr id="27" name="Text 25"/>
          <p:cNvSpPr txBox="1"/>
          <p:nvPr/>
        </p:nvSpPr>
        <p:spPr>
          <a:xfrm>
            <a:off x="6766560" y="4873752"/>
            <a:ext cx="475488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9AACB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Toolkit, cross-walk, extract date and report version on every output</a:t>
            </a:r>
            <a:endParaRPr lang="en-US" sz="1100" dirty="0"/>
          </a:p>
        </p:txBody>
      </p:sp>
      <p:sp>
        <p:nvSpPr>
          <p:cNvPr id="28" name="Text 26"/>
          <p:cNvSpPr txBox="1"/>
          <p:nvPr/>
        </p:nvSpPr>
        <p:spPr>
          <a:xfrm>
            <a:off x="548640" y="5504688"/>
            <a:ext cx="5486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6FC7D6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09</a:t>
            </a:r>
            <a:endParaRPr lang="en-US" sz="1700" dirty="0"/>
          </a:p>
        </p:txBody>
      </p:sp>
      <p:sp>
        <p:nvSpPr>
          <p:cNvPr id="29" name="Text 27"/>
          <p:cNvSpPr txBox="1"/>
          <p:nvPr/>
        </p:nvSpPr>
        <p:spPr>
          <a:xfrm>
            <a:off x="1143000" y="5504688"/>
            <a:ext cx="4754880" cy="3017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5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Length control</a:t>
            </a:r>
            <a:endParaRPr lang="en-US" sz="1450" dirty="0"/>
          </a:p>
        </p:txBody>
      </p:sp>
      <p:sp>
        <p:nvSpPr>
          <p:cNvPr id="30" name="Text 28"/>
          <p:cNvSpPr txBox="1"/>
          <p:nvPr/>
        </p:nvSpPr>
        <p:spPr>
          <a:xfrm>
            <a:off x="1143000" y="5815584"/>
            <a:ext cx="475488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9AACB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Past 60 pages, detail moves to the Data Book</a:t>
            </a:r>
            <a:endParaRPr lang="en-US" sz="1100" dirty="0"/>
          </a:p>
        </p:txBody>
      </p:sp>
      <p:sp>
        <p:nvSpPr>
          <p:cNvPr id="31" name="Text 29"/>
          <p:cNvSpPr txBox="1"/>
          <p:nvPr/>
        </p:nvSpPr>
        <p:spPr>
          <a:xfrm>
            <a:off x="6172200" y="5504688"/>
            <a:ext cx="5486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6FC7D6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10</a:t>
            </a:r>
            <a:endParaRPr lang="en-US" sz="1700" dirty="0"/>
          </a:p>
        </p:txBody>
      </p:sp>
      <p:sp>
        <p:nvSpPr>
          <p:cNvPr id="32" name="Text 30"/>
          <p:cNvSpPr txBox="1"/>
          <p:nvPr/>
        </p:nvSpPr>
        <p:spPr>
          <a:xfrm>
            <a:off x="6766560" y="5504688"/>
            <a:ext cx="4754880" cy="3017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5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One chart spec</a:t>
            </a:r>
            <a:endParaRPr lang="en-US" sz="1450" dirty="0"/>
          </a:p>
        </p:txBody>
      </p:sp>
      <p:sp>
        <p:nvSpPr>
          <p:cNvPr id="33" name="Text 31"/>
          <p:cNvSpPr txBox="1"/>
          <p:nvPr/>
        </p:nvSpPr>
        <p:spPr>
          <a:xfrm>
            <a:off x="6766560" y="5815584"/>
            <a:ext cx="475488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9AACB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 chart without axis units and a source note naming the metric ID</a:t>
            </a:r>
            <a:endParaRPr lang="en-US" sz="1100" dirty="0"/>
          </a:p>
        </p:txBody>
      </p:sp>
    </p:spTree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310896"/>
            <a:ext cx="110642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200" kern="0" dirty="0">
                <a:solidFill>
                  <a:srgbClr val="0091A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COMMERCIAL STRUCTURE</a:t>
            </a:r>
            <a:endParaRPr lang="en-US" sz="1100" dirty="0"/>
          </a:p>
        </p:txBody>
      </p:sp>
      <p:sp>
        <p:nvSpPr>
          <p:cNvPr id="3" name="Text 1"/>
          <p:cNvSpPr txBox="1"/>
          <p:nvPr/>
        </p:nvSpPr>
        <p:spPr>
          <a:xfrm>
            <a:off x="548640" y="566928"/>
            <a:ext cx="11064240" cy="7132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900" b="1" dirty="0">
                <a:solidFill>
                  <a:srgbClr val="00647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Three tiers, one production line</a:t>
            </a:r>
            <a:endParaRPr lang="en-US" sz="2900" dirty="0"/>
          </a:p>
        </p:txBody>
      </p:sp>
      <p:sp>
        <p:nvSpPr>
          <p:cNvPr id="4" name="Shape 2"/>
          <p:cNvSpPr/>
          <p:nvPr/>
        </p:nvSpPr>
        <p:spPr>
          <a:xfrm>
            <a:off x="548640" y="1691640"/>
            <a:ext cx="3520440" cy="4023360"/>
          </a:xfrm>
          <a:prstGeom prst="roundRect">
            <a:avLst>
              <a:gd name="adj" fmla="val 1558"/>
            </a:avLst>
          </a:prstGeom>
          <a:solidFill>
            <a:srgbClr val="F3F6F7"/>
          </a:solidFill>
          <a:ln w="9525">
            <a:solidFill>
              <a:srgbClr val="F3F6F7"/>
            </a:solidFill>
            <a:prstDash val="solid"/>
          </a:ln>
        </p:spPr>
      </p:sp>
      <p:sp>
        <p:nvSpPr>
          <p:cNvPr id="5" name="Text 3"/>
          <p:cNvSpPr txBox="1"/>
          <p:nvPr/>
        </p:nvSpPr>
        <p:spPr>
          <a:xfrm>
            <a:off x="868680" y="1965960"/>
            <a:ext cx="28803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200" kern="0" dirty="0">
                <a:solidFill>
                  <a:srgbClr val="0091A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TIER 1</a:t>
            </a:r>
            <a:endParaRPr lang="en-US" sz="1100" dirty="0"/>
          </a:p>
        </p:txBody>
      </p:sp>
      <p:sp>
        <p:nvSpPr>
          <p:cNvPr id="6" name="Text 4"/>
          <p:cNvSpPr txBox="1"/>
          <p:nvPr/>
        </p:nvSpPr>
        <p:spPr>
          <a:xfrm>
            <a:off x="868680" y="2286000"/>
            <a:ext cx="288036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00647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Disclosure Pack</a:t>
            </a:r>
            <a:endParaRPr lang="en-US" sz="2000" dirty="0"/>
          </a:p>
        </p:txBody>
      </p:sp>
      <p:sp>
        <p:nvSpPr>
          <p:cNvPr id="7" name="Text 5"/>
          <p:cNvSpPr txBox="1"/>
          <p:nvPr/>
        </p:nvSpPr>
        <p:spPr>
          <a:xfrm>
            <a:off x="868680" y="3063240"/>
            <a:ext cx="2880360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5F6B6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Renderings A and D, automated, light analyst QA</a:t>
            </a:r>
            <a:endParaRPr lang="en-US" sz="1250" dirty="0"/>
          </a:p>
        </p:txBody>
      </p:sp>
      <p:sp>
        <p:nvSpPr>
          <p:cNvPr id="8" name="Text 6"/>
          <p:cNvSpPr txBox="1"/>
          <p:nvPr/>
        </p:nvSpPr>
        <p:spPr>
          <a:xfrm>
            <a:off x="868680" y="4343400"/>
            <a:ext cx="28803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0064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 working days from data receipt</a:t>
            </a:r>
            <a:endParaRPr lang="en-US" sz="1200" dirty="0"/>
          </a:p>
        </p:txBody>
      </p:sp>
      <p:sp>
        <p:nvSpPr>
          <p:cNvPr id="9" name="Text 7"/>
          <p:cNvSpPr txBox="1"/>
          <p:nvPr/>
        </p:nvSpPr>
        <p:spPr>
          <a:xfrm>
            <a:off x="868680" y="4937760"/>
            <a:ext cx="288036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i="1" dirty="0">
                <a:solidFill>
                  <a:srgbClr val="5F6B6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Entry point, compliance-driven</a:t>
            </a:r>
            <a:endParaRPr lang="en-US" sz="1200" dirty="0"/>
          </a:p>
        </p:txBody>
      </p:sp>
      <p:sp>
        <p:nvSpPr>
          <p:cNvPr id="10" name="Shape 8"/>
          <p:cNvSpPr/>
          <p:nvPr/>
        </p:nvSpPr>
        <p:spPr>
          <a:xfrm>
            <a:off x="4343400" y="1691640"/>
            <a:ext cx="3520440" cy="4023360"/>
          </a:xfrm>
          <a:prstGeom prst="roundRect">
            <a:avLst>
              <a:gd name="adj" fmla="val 1558"/>
            </a:avLst>
          </a:prstGeom>
          <a:solidFill>
            <a:srgbClr val="00647A"/>
          </a:solidFill>
          <a:ln w="9525">
            <a:solidFill>
              <a:srgbClr val="00647A"/>
            </a:solidFill>
            <a:prstDash val="solid"/>
          </a:ln>
        </p:spPr>
      </p:sp>
      <p:sp>
        <p:nvSpPr>
          <p:cNvPr id="11" name="Text 9"/>
          <p:cNvSpPr txBox="1"/>
          <p:nvPr/>
        </p:nvSpPr>
        <p:spPr>
          <a:xfrm>
            <a:off x="4663440" y="1965960"/>
            <a:ext cx="28803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200" kern="0" dirty="0">
                <a:solidFill>
                  <a:srgbClr val="0091A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TIER 2</a:t>
            </a:r>
            <a:endParaRPr lang="en-US" sz="1100" dirty="0"/>
          </a:p>
        </p:txBody>
      </p:sp>
      <p:sp>
        <p:nvSpPr>
          <p:cNvPr id="12" name="Text 10"/>
          <p:cNvSpPr txBox="1"/>
          <p:nvPr/>
        </p:nvSpPr>
        <p:spPr>
          <a:xfrm>
            <a:off x="4663440" y="2286000"/>
            <a:ext cx="288036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Strategy Pack</a:t>
            </a:r>
            <a:endParaRPr lang="en-US" sz="2000" dirty="0"/>
          </a:p>
        </p:txBody>
      </p:sp>
      <p:sp>
        <p:nvSpPr>
          <p:cNvPr id="13" name="Text 11"/>
          <p:cNvSpPr txBox="1"/>
          <p:nvPr/>
        </p:nvSpPr>
        <p:spPr>
          <a:xfrm>
            <a:off x="4663440" y="3063240"/>
            <a:ext cx="2880360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C6D3D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Tier 1 plus Renderings B and C, analyst-authored strategy and roadmap, board presentation</a:t>
            </a:r>
            <a:endParaRPr lang="en-US" sz="1250" dirty="0"/>
          </a:p>
        </p:txBody>
      </p:sp>
      <p:sp>
        <p:nvSpPr>
          <p:cNvPr id="14" name="Text 12"/>
          <p:cNvSpPr txBox="1"/>
          <p:nvPr/>
        </p:nvSpPr>
        <p:spPr>
          <a:xfrm>
            <a:off x="4663440" y="4343400"/>
            <a:ext cx="28803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15 working days</a:t>
            </a:r>
            <a:endParaRPr lang="en-US" sz="1200" dirty="0"/>
          </a:p>
        </p:txBody>
      </p:sp>
      <p:sp>
        <p:nvSpPr>
          <p:cNvPr id="15" name="Text 13"/>
          <p:cNvSpPr txBox="1"/>
          <p:nvPr/>
        </p:nvSpPr>
        <p:spPr>
          <a:xfrm>
            <a:off x="4663440" y="4937760"/>
            <a:ext cx="288036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i="1" dirty="0">
                <a:solidFill>
                  <a:srgbClr val="C6D3D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core sale</a:t>
            </a:r>
            <a:endParaRPr lang="en-US" sz="1200" dirty="0"/>
          </a:p>
        </p:txBody>
      </p:sp>
      <p:sp>
        <p:nvSpPr>
          <p:cNvPr id="16" name="Shape 14"/>
          <p:cNvSpPr/>
          <p:nvPr/>
        </p:nvSpPr>
        <p:spPr>
          <a:xfrm>
            <a:off x="8138160" y="1691640"/>
            <a:ext cx="3520440" cy="4023360"/>
          </a:xfrm>
          <a:prstGeom prst="roundRect">
            <a:avLst>
              <a:gd name="adj" fmla="val 1558"/>
            </a:avLst>
          </a:prstGeom>
          <a:solidFill>
            <a:srgbClr val="101820"/>
          </a:solidFill>
          <a:ln w="9525">
            <a:solidFill>
              <a:srgbClr val="101820"/>
            </a:solidFill>
            <a:prstDash val="solid"/>
          </a:ln>
        </p:spPr>
      </p:sp>
      <p:sp>
        <p:nvSpPr>
          <p:cNvPr id="17" name="Text 15"/>
          <p:cNvSpPr txBox="1"/>
          <p:nvPr/>
        </p:nvSpPr>
        <p:spPr>
          <a:xfrm>
            <a:off x="8458200" y="1965960"/>
            <a:ext cx="28803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200" kern="0" dirty="0">
                <a:solidFill>
                  <a:srgbClr val="0091A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TIER 3</a:t>
            </a:r>
            <a:endParaRPr lang="en-US" sz="1100" dirty="0"/>
          </a:p>
        </p:txBody>
      </p:sp>
      <p:sp>
        <p:nvSpPr>
          <p:cNvPr id="18" name="Text 16"/>
          <p:cNvSpPr txBox="1"/>
          <p:nvPr/>
        </p:nvSpPr>
        <p:spPr>
          <a:xfrm>
            <a:off x="8458200" y="2286000"/>
            <a:ext cx="288036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Assurance-Ready Pack</a:t>
            </a:r>
            <a:endParaRPr lang="en-US" sz="2000" dirty="0"/>
          </a:p>
        </p:txBody>
      </p:sp>
      <p:sp>
        <p:nvSpPr>
          <p:cNvPr id="19" name="Text 17"/>
          <p:cNvSpPr txBox="1"/>
          <p:nvPr/>
        </p:nvSpPr>
        <p:spPr>
          <a:xfrm>
            <a:off x="8458200" y="3063240"/>
            <a:ext cx="2880360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C6D3D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Tier 2 plus gap remediation, evidence file construction, assurance provider liaison</a:t>
            </a:r>
            <a:endParaRPr lang="en-US" sz="1250" dirty="0"/>
          </a:p>
        </p:txBody>
      </p:sp>
      <p:sp>
        <p:nvSpPr>
          <p:cNvPr id="20" name="Text 18"/>
          <p:cNvSpPr txBox="1"/>
          <p:nvPr/>
        </p:nvSpPr>
        <p:spPr>
          <a:xfrm>
            <a:off x="8458200" y="4343400"/>
            <a:ext cx="28803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Engagement-based</a:t>
            </a:r>
            <a:endParaRPr lang="en-US" sz="1200" dirty="0"/>
          </a:p>
        </p:txBody>
      </p:sp>
      <p:sp>
        <p:nvSpPr>
          <p:cNvPr id="21" name="Text 19"/>
          <p:cNvSpPr txBox="1"/>
          <p:nvPr/>
        </p:nvSpPr>
        <p:spPr>
          <a:xfrm>
            <a:off x="8458200" y="4937760"/>
            <a:ext cx="288036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i="1" dirty="0">
                <a:solidFill>
                  <a:srgbClr val="C6D3D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Highest value, natural retainer</a:t>
            </a:r>
            <a:endParaRPr lang="en-US" sz="1200" dirty="0"/>
          </a:p>
        </p:txBody>
      </p:sp>
      <p:sp>
        <p:nvSpPr>
          <p:cNvPr id="22" name="Text 20"/>
          <p:cNvSpPr txBox="1"/>
          <p:nvPr/>
        </p:nvSpPr>
        <p:spPr>
          <a:xfrm>
            <a:off x="548640" y="5943600"/>
            <a:ext cx="110642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i="1" dirty="0">
                <a:solidFill>
                  <a:srgbClr val="00647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The Social and Ethics Committee report is a near-free attachment with its own buyer inside the client and its own statutory deadline.</a:t>
            </a:r>
            <a:endParaRPr lang="en-US" sz="1400" dirty="0"/>
          </a:p>
        </p:txBody>
      </p:sp>
    </p:spTree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310896"/>
            <a:ext cx="110642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200" kern="0" dirty="0">
                <a:solidFill>
                  <a:srgbClr val="0091A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TEN WEEKS TO A PRICED PRODUCT</a:t>
            </a:r>
            <a:endParaRPr lang="en-US" sz="1100" dirty="0"/>
          </a:p>
        </p:txBody>
      </p:sp>
      <p:sp>
        <p:nvSpPr>
          <p:cNvPr id="3" name="Text 1"/>
          <p:cNvSpPr txBox="1"/>
          <p:nvPr/>
        </p:nvSpPr>
        <p:spPr>
          <a:xfrm>
            <a:off x="548640" y="566928"/>
            <a:ext cx="11064240" cy="7132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900" b="1" dirty="0">
                <a:solidFill>
                  <a:srgbClr val="00647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Build sequence</a:t>
            </a:r>
            <a:endParaRPr lang="en-US" sz="2900" dirty="0"/>
          </a:p>
        </p:txBody>
      </p:sp>
      <p:graphicFrame>
        <p:nvGraphicFramePr>
          <p:cNvPr id="24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548640" y="1645920"/>
          <a:ext cx="11064240" cy="914400"/>
        </p:xfrm>
        <a:graphic>
          <a:graphicData uri="http://schemas.openxmlformats.org/drawingml/2006/table">
            <a:tbl>
              <a:tblPr/>
              <a:tblGrid>
                <a:gridCol w="548640"/>
                <a:gridCol w="4023360"/>
                <a:gridCol w="4937760"/>
                <a:gridCol w="1554480"/>
              </a:tblGrid>
              <a:tr h="41148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#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5DE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E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E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E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647A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Task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5DE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E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E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E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647A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Rationale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5DE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E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E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E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647A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Depends on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5DE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E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E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E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647A"/>
                    </a:solidFill>
                  </a:tcPr>
                </a:tc>
              </a:tr>
              <a:tr h="41148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22282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5DE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E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E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E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22282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Lock metric taxonomy (JSE tree)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5DE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E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E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E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22282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Spine for everything downstream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5DE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E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E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E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22282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—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5DE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E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E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E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41148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22282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2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5DE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E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E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E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22282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Build versioned framework cross-walk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5DE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E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E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E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22282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Prevents standards drift breaking the template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5DE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E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E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E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22282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5DE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E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E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E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41148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22282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3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5DE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E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E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E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22282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Define metric record schema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5DE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E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E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E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22282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Determines defensibility; expensive to retrofit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5DE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E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E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E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22282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5DE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E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E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E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41148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22282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4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5DE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E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E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E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22282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Write fixed-language blocks, legal review once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5DE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E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E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E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22282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Basis of preparation, disclaimers, methodology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5DE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E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E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E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22282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—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5DE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E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E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E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41148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22282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5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5DE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E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E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E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22282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Build claim tier taxonomy and narrative library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5DE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E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E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E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22282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Controls the qualitative half of the report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5DE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E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E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E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22282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3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5DE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E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E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E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41148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22282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6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5DE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E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E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E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22282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Build omission and gap engine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5DE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E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E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E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22282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Turns absence into credibility and into pipeline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5DE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E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E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E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22282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3, 5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5DE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E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E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E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41148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22282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7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5DE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E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E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E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22282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Wire the four renderings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5DE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E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E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E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22282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—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5DE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E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E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E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22282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3–6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5DE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E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E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E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41148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22282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8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5DE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E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E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E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22282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Pilot on the SG Consumer dataset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5DE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E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E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E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22282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Data, projection model and actions already exist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5DE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E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E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E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22282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7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5DE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E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E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E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41148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22282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9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5DE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E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E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E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22282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Legal and claims review, sign-off gate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5DE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E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E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E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22282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Liability and greenwashing controls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5DE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E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E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E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22282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8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5DE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E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E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E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41148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22282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10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5DE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E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E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E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22282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Productise, price, build the Tier 1 handoff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5DE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E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E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E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22282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—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5DE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E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E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E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22282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9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5DE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E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E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E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4">
    <p:bg>
      <p:bgPr>
        <a:solidFill>
          <a:srgbClr val="10182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9509760" y="4206240"/>
            <a:ext cx="3108960" cy="3108960"/>
          </a:xfrm>
          <a:prstGeom prst="ellipse">
            <a:avLst/>
          </a:prstGeom>
          <a:solidFill>
            <a:srgbClr val="00647A"/>
          </a:solidFill>
          <a:ln/>
        </p:spPr>
      </p:sp>
      <p:sp>
        <p:nvSpPr>
          <p:cNvPr id="3" name="Text 1"/>
          <p:cNvSpPr txBox="1"/>
          <p:nvPr/>
        </p:nvSpPr>
        <p:spPr>
          <a:xfrm>
            <a:off x="548640" y="310896"/>
            <a:ext cx="110642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200" kern="0" dirty="0">
                <a:solidFill>
                  <a:srgbClr val="6FC7D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DECIDE BEFORE ANY BUILD STARTS</a:t>
            </a:r>
            <a:endParaRPr lang="en-US" sz="1100" dirty="0"/>
          </a:p>
        </p:txBody>
      </p:sp>
      <p:sp>
        <p:nvSpPr>
          <p:cNvPr id="4" name="Text 2"/>
          <p:cNvSpPr txBox="1"/>
          <p:nvPr/>
        </p:nvSpPr>
        <p:spPr>
          <a:xfrm>
            <a:off x="548640" y="566928"/>
            <a:ext cx="11064240" cy="7132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9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Two decisions</a:t>
            </a:r>
            <a:endParaRPr lang="en-US" sz="2900" dirty="0"/>
          </a:p>
        </p:txBody>
      </p:sp>
      <p:sp>
        <p:nvSpPr>
          <p:cNvPr id="5" name="Shape 3"/>
          <p:cNvSpPr/>
          <p:nvPr/>
        </p:nvSpPr>
        <p:spPr>
          <a:xfrm>
            <a:off x="548640" y="2286000"/>
            <a:ext cx="384048" cy="384048"/>
          </a:xfrm>
          <a:prstGeom prst="ellipse">
            <a:avLst/>
          </a:prstGeom>
          <a:solidFill>
            <a:srgbClr val="0091A8"/>
          </a:solidFill>
          <a:ln/>
        </p:spPr>
      </p:sp>
      <p:sp>
        <p:nvSpPr>
          <p:cNvPr id="6" name="Text 4"/>
          <p:cNvSpPr txBox="1"/>
          <p:nvPr/>
        </p:nvSpPr>
        <p:spPr>
          <a:xfrm>
            <a:off x="548640" y="2286000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</a:t>
            </a:r>
            <a:endParaRPr lang="en-US" sz="1400" dirty="0"/>
          </a:p>
        </p:txBody>
      </p:sp>
      <p:sp>
        <p:nvSpPr>
          <p:cNvPr id="7" name="Text 5"/>
          <p:cNvSpPr txBox="1"/>
          <p:nvPr/>
        </p:nvSpPr>
        <p:spPr>
          <a:xfrm>
            <a:off x="1143000" y="2240280"/>
            <a:ext cx="45720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100" b="1" dirty="0">
                <a:solidFill>
                  <a:srgbClr val="6FC7D6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The sign-off gate</a:t>
            </a:r>
            <a:endParaRPr lang="en-US" sz="2100" dirty="0"/>
          </a:p>
        </p:txBody>
      </p:sp>
      <p:sp>
        <p:nvSpPr>
          <p:cNvPr id="8" name="Text 6"/>
          <p:cNvSpPr txBox="1"/>
          <p:nvPr/>
        </p:nvSpPr>
        <p:spPr>
          <a:xfrm>
            <a:off x="1143000" y="2743200"/>
            <a:ext cx="8412480" cy="12344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C6D3D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document asserts disclosure facts on Okiru letterhead from data Okiru has not verified. Draft watermark until a named client officer signs, with no override in the client-facing build. This costs nothing and removes the one failure mode that could damage the practice.</a:t>
            </a:r>
            <a:endParaRPr lang="en-US" sz="1300" dirty="0"/>
          </a:p>
        </p:txBody>
      </p:sp>
      <p:sp>
        <p:nvSpPr>
          <p:cNvPr id="9" name="Shape 7"/>
          <p:cNvSpPr/>
          <p:nvPr/>
        </p:nvSpPr>
        <p:spPr>
          <a:xfrm>
            <a:off x="548640" y="4114800"/>
            <a:ext cx="384048" cy="384048"/>
          </a:xfrm>
          <a:prstGeom prst="ellipse">
            <a:avLst/>
          </a:prstGeom>
          <a:solidFill>
            <a:srgbClr val="0091A8"/>
          </a:solidFill>
          <a:ln/>
        </p:spPr>
      </p:sp>
      <p:sp>
        <p:nvSpPr>
          <p:cNvPr id="10" name="Text 8"/>
          <p:cNvSpPr txBox="1"/>
          <p:nvPr/>
        </p:nvSpPr>
        <p:spPr>
          <a:xfrm>
            <a:off x="548640" y="4114800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1400" dirty="0"/>
          </a:p>
        </p:txBody>
      </p:sp>
      <p:sp>
        <p:nvSpPr>
          <p:cNvPr id="11" name="Text 9"/>
          <p:cNvSpPr txBox="1"/>
          <p:nvPr/>
        </p:nvSpPr>
        <p:spPr>
          <a:xfrm>
            <a:off x="1143000" y="4069080"/>
            <a:ext cx="45720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100" b="1" dirty="0">
                <a:solidFill>
                  <a:srgbClr val="6FC7D6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Where the analyst sits</a:t>
            </a:r>
            <a:endParaRPr lang="en-US" sz="2100" dirty="0"/>
          </a:p>
        </p:txBody>
      </p:sp>
      <p:sp>
        <p:nvSpPr>
          <p:cNvPr id="12" name="Text 10"/>
          <p:cNvSpPr txBox="1"/>
          <p:nvPr/>
        </p:nvSpPr>
        <p:spPr>
          <a:xfrm>
            <a:off x="1143000" y="4572000"/>
            <a:ext cx="8412480" cy="12344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C6D3D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Tier 1 fully automated with light QA is the right entry price. The value in Tier 2 is a human writing the strategy and roadmap sections. Do not let automation creep into those — that is where the margin and the differentiation live.</a:t>
            </a:r>
            <a:endParaRPr lang="en-US" sz="1300" dirty="0"/>
          </a:p>
        </p:txBody>
      </p:sp>
      <p:sp>
        <p:nvSpPr>
          <p:cNvPr id="13" name="Text 11"/>
          <p:cNvSpPr txBox="1"/>
          <p:nvPr/>
        </p:nvSpPr>
        <p:spPr>
          <a:xfrm>
            <a:off x="548640" y="6172200"/>
            <a:ext cx="36576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Okiru</a:t>
            </a:r>
            <a:endParaRPr lang="en-US" sz="16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24</Slides>
  <Notes>24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24</vt:i4>
      </vt:variant>
    </vt:vector>
  </HeadingPairs>
  <TitlesOfParts>
    <vt:vector size="27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  <vt:lpstr>Slide 12</vt:lpstr>
      <vt:lpstr>Slide 13</vt:lpstr>
      <vt:lpstr>Slide 14</vt:lpstr>
      <vt:lpstr>Slide 15</vt:lpstr>
      <vt:lpstr>Slide 16</vt:lpstr>
      <vt:lpstr>Slide 17</vt:lpstr>
      <vt:lpstr>Slide 18</vt:lpstr>
      <vt:lpstr>Slide 19</vt:lpstr>
      <vt:lpstr>Slide 20</vt:lpstr>
      <vt:lpstr>Slide 21</vt:lpstr>
      <vt:lpstr>Slide 22</vt:lpstr>
      <vt:lpstr>Slide 23</vt:lpstr>
      <vt:lpstr>Slide 24</vt:lpstr>
    </vt:vector>
  </TitlesOfParts>
  <Company>Okiru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ESG Intelligence Toolkit — Report Template Specification</dc:title>
  <dc:subject>PptxGenJS Presentation</dc:subject>
  <dc:creator>Okiru</dc:creator>
  <cp:lastModifiedBy>Okiru</cp:lastModifiedBy>
  <cp:revision>1</cp:revision>
  <dcterms:created xsi:type="dcterms:W3CDTF">2026-08-31T14:44:11Z</dcterms:created>
  <dcterms:modified xsi:type="dcterms:W3CDTF">2026-08-31T14:44:11Z</dcterms:modified>
</cp:coreProperties>
</file>